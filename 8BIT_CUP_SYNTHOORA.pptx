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9" r:id="rId1"/>
  </p:sldMasterIdLst>
  <p:sldIdLst>
    <p:sldId id="271"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91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D3D9C-50A8-5F5A-FBF6-03202A1553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AA0890B-57FB-C51A-C097-22CC858837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ADCB04-D76A-5F1E-C64A-6704FB4E42B0}"/>
              </a:ext>
            </a:extLst>
          </p:cNvPr>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a:extLst>
              <a:ext uri="{FF2B5EF4-FFF2-40B4-BE49-F238E27FC236}">
                <a16:creationId xmlns:a16="http://schemas.microsoft.com/office/drawing/2014/main" id="{97ACC110-0C55-E714-A530-120493015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D73375-874D-65A8-0B2C-0E7467BF09F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6516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948B9-F198-D199-A9D3-B523F39A4F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F24B5E-C07A-2658-F809-715310ADD0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0DB719-0637-896B-9940-CC97A53AC8AF}"/>
              </a:ext>
            </a:extLst>
          </p:cNvPr>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a:extLst>
              <a:ext uri="{FF2B5EF4-FFF2-40B4-BE49-F238E27FC236}">
                <a16:creationId xmlns:a16="http://schemas.microsoft.com/office/drawing/2014/main" id="{F15D645F-FC51-D431-6B4F-7AC5BC8C4D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FCF632-62E9-E254-2DFF-EA5F272E1E1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22763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4E582-D651-1AC7-EAE6-9E9B46FDD3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82BB4C-4D91-DFF4-615F-36C11C969E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9E55D9-DFBD-0D72-4A5A-8B64A59A2426}"/>
              </a:ext>
            </a:extLst>
          </p:cNvPr>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a:extLst>
              <a:ext uri="{FF2B5EF4-FFF2-40B4-BE49-F238E27FC236}">
                <a16:creationId xmlns:a16="http://schemas.microsoft.com/office/drawing/2014/main" id="{0EE384AA-3C00-8D4E-8AF7-8505B523AF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76585A-8F0D-0E25-CE14-038412A90AA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9373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2E686-4301-9BEF-8C00-F5359FE908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5CC3F5-2FAA-7213-D80D-A647DAE5E7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B89168E-DF14-36C0-B5E5-BC5FD41B24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CFD74A-E9FD-AC45-4582-0AA4DEEACF87}"/>
              </a:ext>
            </a:extLst>
          </p:cNvPr>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a:extLst>
              <a:ext uri="{FF2B5EF4-FFF2-40B4-BE49-F238E27FC236}">
                <a16:creationId xmlns:a16="http://schemas.microsoft.com/office/drawing/2014/main" id="{F0846F35-7F66-11A4-72B5-09B949B1CF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0CB94B-71CF-8B24-0BE6-BDDFFB46830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057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0391D-B65D-D819-E333-4E735B45D71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CFA41D-1497-A858-718E-70A2898F76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C19299-5B8F-22A9-2248-3AB4BC263B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EF47E6-0082-EDD9-3DA4-638B25303D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C88D0B-126D-D82D-A408-0D6A7390E0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A636DE-FC31-21A0-D548-43A35D3A7430}"/>
              </a:ext>
            </a:extLst>
          </p:cNvPr>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a:extLst>
              <a:ext uri="{FF2B5EF4-FFF2-40B4-BE49-F238E27FC236}">
                <a16:creationId xmlns:a16="http://schemas.microsoft.com/office/drawing/2014/main" id="{E55DD7EC-08DA-2DFE-F2B5-5BFDFFB31F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812E55-F2BA-CD35-31AA-8F6BA389C93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4548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A8066-1D39-0A0D-B5A5-61FB52DEC3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376EEE-A281-E227-7077-3203D8E57C07}"/>
              </a:ext>
            </a:extLst>
          </p:cNvPr>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a:extLst>
              <a:ext uri="{FF2B5EF4-FFF2-40B4-BE49-F238E27FC236}">
                <a16:creationId xmlns:a16="http://schemas.microsoft.com/office/drawing/2014/main" id="{9F801715-C386-6467-7EA5-A329E8D481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A095B2-6D81-7486-E5BF-CEEE8DB39C5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6567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529DD3-E929-BE42-4226-F07BBDCA2DBF}"/>
              </a:ext>
            </a:extLst>
          </p:cNvPr>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a:extLst>
              <a:ext uri="{FF2B5EF4-FFF2-40B4-BE49-F238E27FC236}">
                <a16:creationId xmlns:a16="http://schemas.microsoft.com/office/drawing/2014/main" id="{510D68F2-7143-2934-D039-7A373E4CC8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5FBA66-EFC6-5FCD-4D7D-8B3C003C13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5181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F2D14-3773-957C-0A82-83985D4C33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8E695E4-52DB-DF69-A4A0-FD89B636D1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6FE6D50-9FBA-4E27-B85B-B44D30F46C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BC8229-6EE3-281A-9A92-AD1F5035654B}"/>
              </a:ext>
            </a:extLst>
          </p:cNvPr>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a:extLst>
              <a:ext uri="{FF2B5EF4-FFF2-40B4-BE49-F238E27FC236}">
                <a16:creationId xmlns:a16="http://schemas.microsoft.com/office/drawing/2014/main" id="{B46F75DD-AAEC-93A5-3001-A53199F20F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D6297C-3F2B-7F23-CCCB-E3C978ADAFD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11437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3ACC7-09FC-3D97-424E-20F16AF460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12E320-74B7-6CF6-BF2A-FEDFEA1F8D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93E91AB-C492-96F8-836C-FF3D0C8BA2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26DB81-AB3A-EF2B-959E-05644E5E3DB2}"/>
              </a:ext>
            </a:extLst>
          </p:cNvPr>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a:extLst>
              <a:ext uri="{FF2B5EF4-FFF2-40B4-BE49-F238E27FC236}">
                <a16:creationId xmlns:a16="http://schemas.microsoft.com/office/drawing/2014/main" id="{373DD155-D0A4-6FFC-1284-7BB9C27C19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663621-BAD2-3D6E-55E6-720191A45EF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7465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C6619-93C3-B012-7897-32AF9F868E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52AFDC-395A-9A69-970D-CF8D86EAE4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0D5C69-EA31-1232-B18F-97E1625CB133}"/>
              </a:ext>
            </a:extLst>
          </p:cNvPr>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a:extLst>
              <a:ext uri="{FF2B5EF4-FFF2-40B4-BE49-F238E27FC236}">
                <a16:creationId xmlns:a16="http://schemas.microsoft.com/office/drawing/2014/main" id="{ADEB2655-3768-88F9-D92E-77388C48A0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8A04F2-E822-CAC7-ADAE-2FAC8181587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83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A513BE-16B7-B2BE-D593-C2CB5A52D85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7A211E-A2A6-E567-057F-50C9C264B9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C46F92-50C2-D1EE-CCD3-A53C26CEA407}"/>
              </a:ext>
            </a:extLst>
          </p:cNvPr>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a:extLst>
              <a:ext uri="{FF2B5EF4-FFF2-40B4-BE49-F238E27FC236}">
                <a16:creationId xmlns:a16="http://schemas.microsoft.com/office/drawing/2014/main" id="{566FD14D-32F5-0F42-99E7-87CDEFCDC3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91DC1B-B1C9-D581-4E54-0582595B4B7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87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C6D171-F8B6-7088-96DC-E131F27276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C44377-029B-DBDD-98DF-ADF4351EBF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62772D-EFCD-4267-79D5-BE37B9ACD5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a:extLst>
              <a:ext uri="{FF2B5EF4-FFF2-40B4-BE49-F238E27FC236}">
                <a16:creationId xmlns:a16="http://schemas.microsoft.com/office/drawing/2014/main" id="{AC6421FC-9DDC-4AE4-57EA-D9AC10FC23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762F359-833D-B580-8259-3366958679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97515207"/>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357F79-38F3-7831-EAE8-73879D81DDD1}"/>
              </a:ext>
            </a:extLst>
          </p:cNvPr>
          <p:cNvSpPr txBox="1"/>
          <p:nvPr/>
        </p:nvSpPr>
        <p:spPr>
          <a:xfrm>
            <a:off x="908992" y="836613"/>
            <a:ext cx="10374016" cy="529376"/>
          </a:xfrm>
          <a:prstGeom prst="rect">
            <a:avLst/>
          </a:prstGeom>
          <a:noFill/>
        </p:spPr>
        <p:txBody>
          <a:bodyPr wrap="square" lIns="27432" tIns="18288" rIns="27432" bIns="18288">
            <a:spAutoFit/>
          </a:bodyPr>
          <a:lstStyle/>
          <a:p>
            <a:pPr algn="ctr">
              <a:spcAft>
                <a:spcPts val="600"/>
              </a:spcAft>
              <a:defRPr sz="1800" b="1">
                <a:solidFill>
                  <a:srgbClr val="5ACDD2"/>
                </a:solidFill>
                <a:latin typeface="Arial"/>
              </a:defRPr>
            </a:pPr>
            <a:r>
              <a:rPr sz="3200" dirty="0"/>
              <a:t>RISK V MACKATHON</a:t>
            </a:r>
          </a:p>
        </p:txBody>
      </p:sp>
      <p:sp>
        <p:nvSpPr>
          <p:cNvPr id="7" name="TextBox 6">
            <a:extLst>
              <a:ext uri="{FF2B5EF4-FFF2-40B4-BE49-F238E27FC236}">
                <a16:creationId xmlns:a16="http://schemas.microsoft.com/office/drawing/2014/main" id="{4213A07B-588B-6FF0-4D5C-BBC98B43CAD1}"/>
              </a:ext>
            </a:extLst>
          </p:cNvPr>
          <p:cNvSpPr txBox="1"/>
          <p:nvPr/>
        </p:nvSpPr>
        <p:spPr>
          <a:xfrm>
            <a:off x="2121309" y="1784556"/>
            <a:ext cx="8568813" cy="615553"/>
          </a:xfrm>
          <a:prstGeom prst="rect">
            <a:avLst/>
          </a:prstGeom>
          <a:noFill/>
        </p:spPr>
        <p:txBody>
          <a:bodyPr wrap="square">
            <a:spAutoFit/>
          </a:bodyPr>
          <a:lstStyle/>
          <a:p>
            <a:pPr>
              <a:spcAft>
                <a:spcPts val="600"/>
              </a:spcAft>
              <a:defRPr sz="3400" b="1">
                <a:solidFill>
                  <a:srgbClr val="FFFFFF"/>
                </a:solidFill>
                <a:latin typeface="Arial"/>
              </a:defRPr>
            </a:pPr>
            <a:r>
              <a:rPr lang="en-IN" sz="3400" dirty="0">
                <a:solidFill>
                  <a:srgbClr val="FFC000"/>
                </a:solidFill>
              </a:rPr>
              <a:t>8-BIT  COMPUTER  ARCHITECTURE</a:t>
            </a:r>
          </a:p>
        </p:txBody>
      </p:sp>
      <p:sp>
        <p:nvSpPr>
          <p:cNvPr id="13" name="TextBox 12">
            <a:extLst>
              <a:ext uri="{FF2B5EF4-FFF2-40B4-BE49-F238E27FC236}">
                <a16:creationId xmlns:a16="http://schemas.microsoft.com/office/drawing/2014/main" id="{DAA8B241-9FFA-5CDB-EC94-8A4A85FDBC66}"/>
              </a:ext>
            </a:extLst>
          </p:cNvPr>
          <p:cNvSpPr txBox="1"/>
          <p:nvPr/>
        </p:nvSpPr>
        <p:spPr>
          <a:xfrm>
            <a:off x="560438" y="3092037"/>
            <a:ext cx="6098458" cy="461665"/>
          </a:xfrm>
          <a:prstGeom prst="rect">
            <a:avLst/>
          </a:prstGeom>
          <a:noFill/>
        </p:spPr>
        <p:txBody>
          <a:bodyPr wrap="square">
            <a:spAutoFit/>
          </a:bodyPr>
          <a:lstStyle/>
          <a:p>
            <a:pPr>
              <a:spcAft>
                <a:spcPts val="600"/>
              </a:spcAft>
              <a:defRPr sz="2400" b="1">
                <a:solidFill>
                  <a:srgbClr val="F2BE55"/>
                </a:solidFill>
                <a:latin typeface="Arial"/>
              </a:defRPr>
            </a:pPr>
            <a:r>
              <a:rPr lang="en-IN" sz="2400" dirty="0">
                <a:solidFill>
                  <a:srgbClr val="00B050"/>
                </a:solidFill>
              </a:rPr>
              <a:t>TEAM SYNTHORA</a:t>
            </a:r>
          </a:p>
        </p:txBody>
      </p:sp>
      <p:sp>
        <p:nvSpPr>
          <p:cNvPr id="17" name="TextBox 16">
            <a:extLst>
              <a:ext uri="{FF2B5EF4-FFF2-40B4-BE49-F238E27FC236}">
                <a16:creationId xmlns:a16="http://schemas.microsoft.com/office/drawing/2014/main" id="{3A596FC1-F7E0-0F3F-FE4E-EA59F30019FC}"/>
              </a:ext>
            </a:extLst>
          </p:cNvPr>
          <p:cNvSpPr txBox="1"/>
          <p:nvPr/>
        </p:nvSpPr>
        <p:spPr>
          <a:xfrm>
            <a:off x="693174" y="4047621"/>
            <a:ext cx="6098458" cy="1077218"/>
          </a:xfrm>
          <a:prstGeom prst="rect">
            <a:avLst/>
          </a:prstGeom>
          <a:noFill/>
        </p:spPr>
        <p:txBody>
          <a:bodyPr wrap="square">
            <a:spAutoFit/>
          </a:bodyPr>
          <a:lstStyle/>
          <a:p>
            <a:pPr>
              <a:spcAft>
                <a:spcPts val="600"/>
              </a:spcAft>
              <a:defRPr sz="1800" b="0">
                <a:solidFill>
                  <a:srgbClr val="FFFFFF"/>
                </a:solidFill>
                <a:latin typeface="Arial"/>
              </a:defRPr>
            </a:pPr>
            <a:r>
              <a:rPr lang="en-IN" sz="1800" dirty="0">
                <a:solidFill>
                  <a:schemeClr val="accent5">
                    <a:lumMod val="75000"/>
                  </a:schemeClr>
                </a:solidFill>
              </a:rPr>
              <a:t>KAVIYASI  N  </a:t>
            </a:r>
          </a:p>
          <a:p>
            <a:pPr>
              <a:spcAft>
                <a:spcPts val="600"/>
              </a:spcAft>
              <a:defRPr sz="1800" b="0">
                <a:solidFill>
                  <a:srgbClr val="FFFFFF"/>
                </a:solidFill>
                <a:latin typeface="Arial"/>
              </a:defRPr>
            </a:pPr>
            <a:r>
              <a:rPr lang="en-IN" sz="1800" dirty="0">
                <a:solidFill>
                  <a:schemeClr val="accent5">
                    <a:lumMod val="75000"/>
                  </a:schemeClr>
                </a:solidFill>
              </a:rPr>
              <a:t>BHAVANAASRI  A  S  </a:t>
            </a:r>
          </a:p>
          <a:p>
            <a:pPr>
              <a:spcAft>
                <a:spcPts val="600"/>
              </a:spcAft>
              <a:defRPr sz="1800" b="0">
                <a:solidFill>
                  <a:srgbClr val="FFFFFF"/>
                </a:solidFill>
                <a:latin typeface="Arial"/>
              </a:defRPr>
            </a:pPr>
            <a:r>
              <a:rPr lang="en-IN" sz="1800" dirty="0">
                <a:solidFill>
                  <a:schemeClr val="accent5">
                    <a:lumMod val="75000"/>
                  </a:schemeClr>
                </a:solidFill>
              </a:rPr>
              <a:t>HARIKRISHNAN  R</a:t>
            </a:r>
          </a:p>
        </p:txBody>
      </p:sp>
      <p:sp>
        <p:nvSpPr>
          <p:cNvPr id="19" name="TextBox 18">
            <a:extLst>
              <a:ext uri="{FF2B5EF4-FFF2-40B4-BE49-F238E27FC236}">
                <a16:creationId xmlns:a16="http://schemas.microsoft.com/office/drawing/2014/main" id="{080AC2CC-9226-3BC1-6C8F-2B7207F0D3DE}"/>
              </a:ext>
            </a:extLst>
          </p:cNvPr>
          <p:cNvSpPr txBox="1"/>
          <p:nvPr/>
        </p:nvSpPr>
        <p:spPr>
          <a:xfrm>
            <a:off x="560438" y="6441811"/>
            <a:ext cx="6098458" cy="215444"/>
          </a:xfrm>
          <a:prstGeom prst="rect">
            <a:avLst/>
          </a:prstGeom>
          <a:noFill/>
        </p:spPr>
        <p:txBody>
          <a:bodyPr wrap="square">
            <a:spAutoFit/>
          </a:bodyPr>
          <a:lstStyle/>
          <a:p>
            <a:pPr>
              <a:spcAft>
                <a:spcPts val="600"/>
              </a:spcAft>
              <a:defRPr sz="800" b="0">
                <a:solidFill>
                  <a:srgbClr val="5F6670"/>
                </a:solidFill>
                <a:latin typeface="Arial"/>
              </a:defRPr>
            </a:pPr>
            <a:r>
              <a:rPr lang="en-US" sz="800" dirty="0"/>
              <a:t>TEAM SYNTHORA  |  RISK V MACKATHON  |  8-BIT COMPUTER ARCHITECTURE</a:t>
            </a:r>
          </a:p>
        </p:txBody>
      </p:sp>
    </p:spTree>
    <p:extLst>
      <p:ext uri="{BB962C8B-B14F-4D97-AF65-F5344CB8AC3E}">
        <p14:creationId xmlns:p14="http://schemas.microsoft.com/office/powerpoint/2010/main" val="1824261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1. Introduction to 8-Bit Computer Architecture</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rPr dirty="0"/>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t>2</a:t>
            </a:r>
          </a:p>
        </p:txBody>
      </p:sp>
      <p:sp>
        <p:nvSpPr>
          <p:cNvPr id="6" name="TextBox 5"/>
          <p:cNvSpPr txBox="1"/>
          <p:nvPr/>
        </p:nvSpPr>
        <p:spPr>
          <a:xfrm>
            <a:off x="685800" y="1188720"/>
            <a:ext cx="10789920" cy="640080"/>
          </a:xfrm>
          <a:prstGeom prst="rect">
            <a:avLst/>
          </a:prstGeom>
          <a:noFill/>
        </p:spPr>
        <p:txBody>
          <a:bodyPr wrap="square" lIns="27432" tIns="18288" rIns="27432" bIns="18288">
            <a:spAutoFit/>
          </a:bodyPr>
          <a:lstStyle/>
          <a:p>
            <a:pPr>
              <a:spcAft>
                <a:spcPts val="600"/>
              </a:spcAft>
              <a:defRPr sz="2000" b="1">
                <a:solidFill>
                  <a:srgbClr val="202328"/>
                </a:solidFill>
                <a:latin typeface="Arial"/>
              </a:defRPr>
            </a:pPr>
            <a:r>
              <a:t>An 8-bit computer processes data in groups of 8 bits. Each bit can be 0 or 1.</a:t>
            </a:r>
          </a:p>
        </p:txBody>
      </p:sp>
      <p:sp>
        <p:nvSpPr>
          <p:cNvPr id="7" name="TextBox 6"/>
          <p:cNvSpPr txBox="1"/>
          <p:nvPr/>
        </p:nvSpPr>
        <p:spPr>
          <a:xfrm>
            <a:off x="731520" y="1965960"/>
            <a:ext cx="10652760" cy="1828800"/>
          </a:xfrm>
          <a:prstGeom prst="rect">
            <a:avLst/>
          </a:prstGeom>
          <a:noFill/>
        </p:spPr>
        <p:txBody>
          <a:bodyPr wrap="square" lIns="27432" tIns="18288" rIns="27432" bIns="18288">
            <a:spAutoFit/>
          </a:bodyPr>
          <a:lstStyle/>
          <a:p>
            <a:pPr>
              <a:spcAft>
                <a:spcPts val="600"/>
              </a:spcAft>
              <a:defRPr sz="1700" b="0">
                <a:solidFill>
                  <a:srgbClr val="202328"/>
                </a:solidFill>
                <a:latin typeface="Arial"/>
              </a:defRPr>
            </a:pPr>
            <a:r>
              <a:rPr dirty="0"/>
              <a:t>The architecture is made of memory, registers, an Arithmetic Logic Unit (ALU), a control section and a shared bus. Each block has a separate task, but they work together to run a program.</a:t>
            </a:r>
          </a:p>
          <a:p>
            <a:pPr>
              <a:spcAft>
                <a:spcPts val="600"/>
              </a:spcAft>
              <a:defRPr sz="1700" b="0">
                <a:solidFill>
                  <a:srgbClr val="202328"/>
                </a:solidFill>
                <a:latin typeface="Arial"/>
              </a:defRPr>
            </a:pPr>
            <a:endParaRPr dirty="0"/>
          </a:p>
          <a:p>
            <a:pPr>
              <a:spcAft>
                <a:spcPts val="600"/>
              </a:spcAft>
              <a:defRPr sz="1700" b="0">
                <a:solidFill>
                  <a:srgbClr val="202328"/>
                </a:solidFill>
                <a:latin typeface="Arial"/>
              </a:defRPr>
            </a:pPr>
            <a:r>
              <a:rPr dirty="0"/>
              <a:t>The Program Counter identifies the next instruction, the decoder interprets it, and the ALU performs the required operation.</a:t>
            </a:r>
          </a:p>
        </p:txBody>
      </p:sp>
      <p:sp>
        <p:nvSpPr>
          <p:cNvPr id="8" name="TextBox 7"/>
          <p:cNvSpPr txBox="1"/>
          <p:nvPr/>
        </p:nvSpPr>
        <p:spPr>
          <a:xfrm>
            <a:off x="731520" y="4709160"/>
            <a:ext cx="10515600" cy="344710"/>
          </a:xfrm>
          <a:prstGeom prst="rect">
            <a:avLst/>
          </a:prstGeom>
          <a:noFill/>
        </p:spPr>
        <p:txBody>
          <a:bodyPr wrap="square" lIns="27432" tIns="18288" rIns="27432" bIns="18288">
            <a:spAutoFit/>
          </a:bodyPr>
          <a:lstStyle/>
          <a:p>
            <a:pPr>
              <a:spcAft>
                <a:spcPts val="600"/>
              </a:spcAft>
              <a:defRPr sz="2000" b="1">
                <a:solidFill>
                  <a:srgbClr val="288791"/>
                </a:solidFill>
                <a:latin typeface="Arial"/>
              </a:defRPr>
            </a:pPr>
            <a:r>
              <a:rPr dirty="0">
                <a:solidFill>
                  <a:schemeClr val="accent4">
                    <a:lumMod val="75000"/>
                  </a:schemeClr>
                </a:solidFill>
              </a:rPr>
              <a:t>Main stages: Fetch → Decode → Execute → Store or Display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 y="39319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2. Circuit / Architecture Diagram</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t>3</a:t>
            </a:r>
          </a:p>
        </p:txBody>
      </p:sp>
      <p:sp>
        <p:nvSpPr>
          <p:cNvPr id="6" name="TextBox 5"/>
          <p:cNvSpPr txBox="1"/>
          <p:nvPr/>
        </p:nvSpPr>
        <p:spPr>
          <a:xfrm>
            <a:off x="594360" y="1024128"/>
            <a:ext cx="10972800" cy="252377"/>
          </a:xfrm>
          <a:prstGeom prst="rect">
            <a:avLst/>
          </a:prstGeom>
          <a:noFill/>
        </p:spPr>
        <p:txBody>
          <a:bodyPr wrap="square" lIns="27432" tIns="18288" rIns="27432" bIns="18288">
            <a:spAutoFit/>
          </a:bodyPr>
          <a:lstStyle/>
          <a:p>
            <a:pPr>
              <a:spcAft>
                <a:spcPts val="600"/>
              </a:spcAft>
              <a:defRPr sz="1200" b="0">
                <a:solidFill>
                  <a:srgbClr val="5F6670"/>
                </a:solidFill>
                <a:latin typeface="Arial"/>
              </a:defRPr>
            </a:pPr>
            <a:r>
              <a:rPr sz="1400" dirty="0"/>
              <a:t>Circuit diagram with the component names and control-signal labels</a:t>
            </a:r>
            <a:r>
              <a:rPr dirty="0"/>
              <a:t>.</a:t>
            </a:r>
          </a:p>
        </p:txBody>
      </p:sp>
      <p:pic>
        <p:nvPicPr>
          <p:cNvPr id="7" name="Picture 6" descr="165394.jpg"/>
          <p:cNvPicPr>
            <a:picLocks noChangeAspect="1"/>
          </p:cNvPicPr>
          <p:nvPr/>
        </p:nvPicPr>
        <p:blipFill>
          <a:blip r:embed="rId2"/>
          <a:stretch>
            <a:fillRect/>
          </a:stretch>
        </p:blipFill>
        <p:spPr>
          <a:xfrm>
            <a:off x="594361" y="1470398"/>
            <a:ext cx="11283990" cy="4983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3. Block Diagram</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t>4</a:t>
            </a:r>
          </a:p>
        </p:txBody>
      </p:sp>
      <p:sp>
        <p:nvSpPr>
          <p:cNvPr id="6" name="TextBox 5"/>
          <p:cNvSpPr txBox="1"/>
          <p:nvPr/>
        </p:nvSpPr>
        <p:spPr>
          <a:xfrm>
            <a:off x="594360" y="969265"/>
            <a:ext cx="10972800" cy="344710"/>
          </a:xfrm>
          <a:prstGeom prst="rect">
            <a:avLst/>
          </a:prstGeom>
          <a:noFill/>
        </p:spPr>
        <p:txBody>
          <a:bodyPr wrap="square" lIns="27432" tIns="18288" rIns="27432" bIns="18288">
            <a:spAutoFit/>
          </a:bodyPr>
          <a:lstStyle/>
          <a:p>
            <a:pPr>
              <a:spcAft>
                <a:spcPts val="600"/>
              </a:spcAft>
              <a:defRPr sz="1200" b="0">
                <a:solidFill>
                  <a:srgbClr val="5F6670"/>
                </a:solidFill>
                <a:latin typeface="Arial"/>
              </a:defRPr>
            </a:pPr>
            <a:r>
              <a:rPr sz="2000" dirty="0"/>
              <a:t>The block diagram gives a simplified view of the main units and their connections.</a:t>
            </a:r>
          </a:p>
        </p:txBody>
      </p:sp>
      <p:pic>
        <p:nvPicPr>
          <p:cNvPr id="7" name="Picture 6" descr="165388.jpg"/>
          <p:cNvPicPr>
            <a:picLocks noChangeAspect="1"/>
          </p:cNvPicPr>
          <p:nvPr/>
        </p:nvPicPr>
        <p:blipFill>
          <a:blip r:embed="rId2"/>
          <a:stretch>
            <a:fillRect/>
          </a:stretch>
        </p:blipFill>
        <p:spPr>
          <a:xfrm>
            <a:off x="752168" y="1280159"/>
            <a:ext cx="10540672" cy="49834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4. Clock and Common Bus</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t>5</a:t>
            </a:r>
          </a:p>
        </p:txBody>
      </p:sp>
      <p:sp>
        <p:nvSpPr>
          <p:cNvPr id="6" name="TextBox 5"/>
          <p:cNvSpPr txBox="1"/>
          <p:nvPr/>
        </p:nvSpPr>
        <p:spPr>
          <a:xfrm>
            <a:off x="731520" y="1280160"/>
            <a:ext cx="512064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Clock</a:t>
            </a:r>
          </a:p>
        </p:txBody>
      </p:sp>
      <p:sp>
        <p:nvSpPr>
          <p:cNvPr id="7" name="TextBox 6"/>
          <p:cNvSpPr txBox="1"/>
          <p:nvPr/>
        </p:nvSpPr>
        <p:spPr>
          <a:xfrm>
            <a:off x="731520" y="1627631"/>
            <a:ext cx="5120640" cy="868680"/>
          </a:xfrm>
          <a:prstGeom prst="rect">
            <a:avLst/>
          </a:prstGeom>
          <a:noFill/>
        </p:spPr>
        <p:txBody>
          <a:bodyPr wrap="square" lIns="27432" tIns="18288" rIns="27432" bIns="18288">
            <a:spAutoFit/>
          </a:bodyPr>
          <a:lstStyle/>
          <a:p>
            <a:pPr>
              <a:spcAft>
                <a:spcPts val="600"/>
              </a:spcAft>
              <a:defRPr sz="1600" b="0">
                <a:solidFill>
                  <a:srgbClr val="202328"/>
                </a:solidFill>
                <a:latin typeface="Arial"/>
              </a:defRPr>
            </a:pPr>
            <a:r>
              <a:t>The clock generates regular timing pulses. These pulses help the computer perform one control step after another in the correct order.</a:t>
            </a:r>
          </a:p>
        </p:txBody>
      </p:sp>
      <p:sp>
        <p:nvSpPr>
          <p:cNvPr id="8" name="TextBox 7"/>
          <p:cNvSpPr txBox="1"/>
          <p:nvPr/>
        </p:nvSpPr>
        <p:spPr>
          <a:xfrm>
            <a:off x="6217920" y="1280160"/>
            <a:ext cx="512064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Common BUS</a:t>
            </a:r>
          </a:p>
        </p:txBody>
      </p:sp>
      <p:sp>
        <p:nvSpPr>
          <p:cNvPr id="9" name="TextBox 8"/>
          <p:cNvSpPr txBox="1"/>
          <p:nvPr/>
        </p:nvSpPr>
        <p:spPr>
          <a:xfrm>
            <a:off x="6217920" y="1627631"/>
            <a:ext cx="5120640" cy="868680"/>
          </a:xfrm>
          <a:prstGeom prst="rect">
            <a:avLst/>
          </a:prstGeom>
          <a:noFill/>
        </p:spPr>
        <p:txBody>
          <a:bodyPr wrap="square" lIns="27432" tIns="18288" rIns="27432" bIns="18288">
            <a:spAutoFit/>
          </a:bodyPr>
          <a:lstStyle/>
          <a:p>
            <a:pPr>
              <a:spcAft>
                <a:spcPts val="600"/>
              </a:spcAft>
              <a:defRPr sz="1600" b="0">
                <a:solidFill>
                  <a:srgbClr val="202328"/>
                </a:solidFill>
                <a:latin typeface="Arial"/>
              </a:defRPr>
            </a:pPr>
            <a:r>
              <a:t>The bus is a shared path for transferring data between RAM, registers and the ALU. A control signal selects which unit can place data on the bus.</a:t>
            </a:r>
          </a:p>
        </p:txBody>
      </p:sp>
      <p:sp>
        <p:nvSpPr>
          <p:cNvPr id="10" name="TextBox 9"/>
          <p:cNvSpPr txBox="1"/>
          <p:nvPr/>
        </p:nvSpPr>
        <p:spPr>
          <a:xfrm>
            <a:off x="731520" y="3383280"/>
            <a:ext cx="10698480" cy="365760"/>
          </a:xfrm>
          <a:prstGeom prst="rect">
            <a:avLst/>
          </a:prstGeom>
          <a:noFill/>
        </p:spPr>
        <p:txBody>
          <a:bodyPr wrap="square" lIns="27432" tIns="18288" rIns="27432" bIns="18288">
            <a:spAutoFit/>
          </a:bodyPr>
          <a:lstStyle/>
          <a:p>
            <a:pPr>
              <a:spcAft>
                <a:spcPts val="600"/>
              </a:spcAft>
              <a:defRPr sz="1800" b="1">
                <a:solidFill>
                  <a:srgbClr val="1C2D44"/>
                </a:solidFill>
                <a:latin typeface="Arial"/>
              </a:defRPr>
            </a:pPr>
            <a:r>
              <a:t>Why are they important?</a:t>
            </a:r>
          </a:p>
        </p:txBody>
      </p:sp>
      <p:sp>
        <p:nvSpPr>
          <p:cNvPr id="11" name="TextBox 10"/>
          <p:cNvSpPr txBox="1"/>
          <p:nvPr/>
        </p:nvSpPr>
        <p:spPr>
          <a:xfrm>
            <a:off x="731520" y="3840480"/>
            <a:ext cx="10607040" cy="1097280"/>
          </a:xfrm>
          <a:prstGeom prst="rect">
            <a:avLst/>
          </a:prstGeom>
          <a:noFill/>
        </p:spPr>
        <p:txBody>
          <a:bodyPr wrap="square" lIns="27432" tIns="18288" rIns="27432" bIns="18288">
            <a:spAutoFit/>
          </a:bodyPr>
          <a:lstStyle/>
          <a:p>
            <a:pPr>
              <a:spcAft>
                <a:spcPts val="600"/>
              </a:spcAft>
              <a:defRPr sz="1700" b="0">
                <a:solidFill>
                  <a:srgbClr val="202328"/>
                </a:solidFill>
                <a:latin typeface="Arial"/>
              </a:defRPr>
            </a:pPr>
            <a:r>
              <a:t>Without timing, operations may occur in the wrong sequence. Without the bus, each block would need separate data connections to communicate. The clock coordinates timing; the bus carries data.</a:t>
            </a:r>
          </a:p>
        </p:txBody>
      </p:sp>
      <p:sp>
        <p:nvSpPr>
          <p:cNvPr id="12" name="TextBox 11"/>
          <p:cNvSpPr txBox="1"/>
          <p:nvPr/>
        </p:nvSpPr>
        <p:spPr>
          <a:xfrm>
            <a:off x="731520" y="5532120"/>
            <a:ext cx="10607040" cy="344710"/>
          </a:xfrm>
          <a:prstGeom prst="rect">
            <a:avLst/>
          </a:prstGeom>
          <a:noFill/>
        </p:spPr>
        <p:txBody>
          <a:bodyPr wrap="square" lIns="27432" tIns="18288" rIns="27432" bIns="18288">
            <a:spAutoFit/>
          </a:bodyPr>
          <a:lstStyle/>
          <a:p>
            <a:pPr>
              <a:spcAft>
                <a:spcPts val="600"/>
              </a:spcAft>
              <a:defRPr sz="1500" b="1">
                <a:solidFill>
                  <a:srgbClr val="288791"/>
                </a:solidFill>
                <a:latin typeface="Arial"/>
              </a:defRPr>
            </a:pPr>
            <a:r>
              <a:rPr sz="2000" dirty="0">
                <a:solidFill>
                  <a:schemeClr val="accent4">
                    <a:lumMod val="75000"/>
                  </a:schemeClr>
                </a:solidFill>
              </a:rPr>
              <a:t> </a:t>
            </a:r>
            <a:r>
              <a:rPr lang="en-US" sz="2000" dirty="0">
                <a:solidFill>
                  <a:schemeClr val="accent4">
                    <a:lumMod val="75000"/>
                  </a:schemeClr>
                </a:solidFill>
              </a:rPr>
              <a:t>T</a:t>
            </a:r>
            <a:r>
              <a:rPr sz="2000" dirty="0">
                <a:solidFill>
                  <a:schemeClr val="accent4">
                    <a:lumMod val="75000"/>
                  </a:schemeClr>
                </a:solidFill>
              </a:rPr>
              <a:t>he bus carries data; control signals decide when data moves.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5. Program Counter, MAR and RAM</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t>6</a:t>
            </a:r>
          </a:p>
        </p:txBody>
      </p:sp>
      <p:sp>
        <p:nvSpPr>
          <p:cNvPr id="6" name="TextBox 5"/>
          <p:cNvSpPr txBox="1"/>
          <p:nvPr/>
        </p:nvSpPr>
        <p:spPr>
          <a:xfrm>
            <a:off x="685800" y="1280160"/>
            <a:ext cx="521208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Program Counter (PC)</a:t>
            </a:r>
          </a:p>
        </p:txBody>
      </p:sp>
      <p:sp>
        <p:nvSpPr>
          <p:cNvPr id="7" name="TextBox 6"/>
          <p:cNvSpPr txBox="1"/>
          <p:nvPr/>
        </p:nvSpPr>
        <p:spPr>
          <a:xfrm>
            <a:off x="685800" y="1627631"/>
            <a:ext cx="5212080" cy="868680"/>
          </a:xfrm>
          <a:prstGeom prst="rect">
            <a:avLst/>
          </a:prstGeom>
          <a:noFill/>
        </p:spPr>
        <p:txBody>
          <a:bodyPr wrap="square" lIns="27432" tIns="18288" rIns="27432" bIns="18288">
            <a:spAutoFit/>
          </a:bodyPr>
          <a:lstStyle/>
          <a:p>
            <a:pPr>
              <a:spcAft>
                <a:spcPts val="600"/>
              </a:spcAft>
              <a:defRPr sz="1500" b="0">
                <a:solidFill>
                  <a:srgbClr val="202328"/>
                </a:solidFill>
                <a:latin typeface="Arial"/>
              </a:defRPr>
            </a:pPr>
            <a:r>
              <a:t>Stores the address of the next instruction. It normally advances after an instruction is fetched, but a jump instruction can load a different address.</a:t>
            </a:r>
          </a:p>
        </p:txBody>
      </p:sp>
      <p:sp>
        <p:nvSpPr>
          <p:cNvPr id="8" name="TextBox 7"/>
          <p:cNvSpPr txBox="1"/>
          <p:nvPr/>
        </p:nvSpPr>
        <p:spPr>
          <a:xfrm>
            <a:off x="6217920" y="1280160"/>
            <a:ext cx="521208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Memory Address Register (MAR)</a:t>
            </a:r>
          </a:p>
        </p:txBody>
      </p:sp>
      <p:sp>
        <p:nvSpPr>
          <p:cNvPr id="9" name="TextBox 8"/>
          <p:cNvSpPr txBox="1"/>
          <p:nvPr/>
        </p:nvSpPr>
        <p:spPr>
          <a:xfrm>
            <a:off x="6217920" y="1627631"/>
            <a:ext cx="5212080" cy="868680"/>
          </a:xfrm>
          <a:prstGeom prst="rect">
            <a:avLst/>
          </a:prstGeom>
          <a:noFill/>
        </p:spPr>
        <p:txBody>
          <a:bodyPr wrap="square" lIns="27432" tIns="18288" rIns="27432" bIns="18288">
            <a:spAutoFit/>
          </a:bodyPr>
          <a:lstStyle/>
          <a:p>
            <a:pPr>
              <a:spcAft>
                <a:spcPts val="600"/>
              </a:spcAft>
              <a:defRPr sz="1500" b="0">
                <a:solidFill>
                  <a:srgbClr val="202328"/>
                </a:solidFill>
                <a:latin typeface="Arial"/>
              </a:defRPr>
            </a:pPr>
            <a:r>
              <a:t>Holds the address of the RAM location that the computer wants to access. It identifies where data or an instruction should be read or written.</a:t>
            </a:r>
          </a:p>
        </p:txBody>
      </p:sp>
      <p:sp>
        <p:nvSpPr>
          <p:cNvPr id="10" name="TextBox 9"/>
          <p:cNvSpPr txBox="1"/>
          <p:nvPr/>
        </p:nvSpPr>
        <p:spPr>
          <a:xfrm>
            <a:off x="685800" y="3291840"/>
            <a:ext cx="10698480" cy="320040"/>
          </a:xfrm>
          <a:prstGeom prst="rect">
            <a:avLst/>
          </a:prstGeom>
          <a:noFill/>
        </p:spPr>
        <p:txBody>
          <a:bodyPr wrap="square" lIns="27432" tIns="18288" rIns="27432" bIns="18288">
            <a:spAutoFit/>
          </a:bodyPr>
          <a:lstStyle/>
          <a:p>
            <a:pPr>
              <a:spcAft>
                <a:spcPts val="600"/>
              </a:spcAft>
              <a:defRPr sz="1800" b="1">
                <a:solidFill>
                  <a:srgbClr val="1C2D44"/>
                </a:solidFill>
                <a:latin typeface="Arial"/>
              </a:defRPr>
            </a:pPr>
            <a:r>
              <a:t>RAM — Random Access Memory</a:t>
            </a:r>
          </a:p>
        </p:txBody>
      </p:sp>
      <p:sp>
        <p:nvSpPr>
          <p:cNvPr id="11" name="TextBox 10"/>
          <p:cNvSpPr txBox="1"/>
          <p:nvPr/>
        </p:nvSpPr>
        <p:spPr>
          <a:xfrm>
            <a:off x="731520" y="3703320"/>
            <a:ext cx="10515600" cy="1097280"/>
          </a:xfrm>
          <a:prstGeom prst="rect">
            <a:avLst/>
          </a:prstGeom>
          <a:noFill/>
        </p:spPr>
        <p:txBody>
          <a:bodyPr wrap="square" lIns="27432" tIns="18288" rIns="27432" bIns="18288">
            <a:spAutoFit/>
          </a:bodyPr>
          <a:lstStyle/>
          <a:p>
            <a:pPr>
              <a:spcAft>
                <a:spcPts val="600"/>
              </a:spcAft>
              <a:defRPr sz="1700" b="0">
                <a:solidFill>
                  <a:srgbClr val="202328"/>
                </a:solidFill>
                <a:latin typeface="Arial"/>
              </a:defRPr>
            </a:pPr>
            <a:r>
              <a:t>RAM stores the program instructions and data used by the architecture. RAM OUT places the selected memory value on the bus; RAM IN enables a write into the selected memory location.</a:t>
            </a:r>
          </a:p>
        </p:txBody>
      </p:sp>
      <p:sp>
        <p:nvSpPr>
          <p:cNvPr id="12" name="TextBox 11"/>
          <p:cNvSpPr txBox="1"/>
          <p:nvPr/>
        </p:nvSpPr>
        <p:spPr>
          <a:xfrm>
            <a:off x="731520" y="5303520"/>
            <a:ext cx="10607040" cy="344710"/>
          </a:xfrm>
          <a:prstGeom prst="rect">
            <a:avLst/>
          </a:prstGeom>
          <a:noFill/>
        </p:spPr>
        <p:txBody>
          <a:bodyPr wrap="square" lIns="27432" tIns="18288" rIns="27432" bIns="18288">
            <a:spAutoFit/>
          </a:bodyPr>
          <a:lstStyle/>
          <a:p>
            <a:pPr>
              <a:spcAft>
                <a:spcPts val="600"/>
              </a:spcAft>
              <a:defRPr sz="1600" b="1">
                <a:solidFill>
                  <a:srgbClr val="288791"/>
                </a:solidFill>
                <a:latin typeface="Arial"/>
              </a:defRPr>
            </a:pPr>
            <a:r>
              <a:rPr sz="2000" dirty="0">
                <a:solidFill>
                  <a:schemeClr val="accent4">
                    <a:lumMod val="75000"/>
                  </a:schemeClr>
                </a:solidFill>
              </a:rPr>
              <a:t>Address path: PC / address source → MAR → RAM location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56616"/>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6. Instruction Register, Decoder and Control</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t>7</a:t>
            </a:r>
          </a:p>
        </p:txBody>
      </p:sp>
      <p:sp>
        <p:nvSpPr>
          <p:cNvPr id="6" name="TextBox 5"/>
          <p:cNvSpPr txBox="1"/>
          <p:nvPr/>
        </p:nvSpPr>
        <p:spPr>
          <a:xfrm>
            <a:off x="685800" y="1280160"/>
            <a:ext cx="521208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Instruction Register (IR)</a:t>
            </a:r>
          </a:p>
        </p:txBody>
      </p:sp>
      <p:sp>
        <p:nvSpPr>
          <p:cNvPr id="7" name="TextBox 6"/>
          <p:cNvSpPr txBox="1"/>
          <p:nvPr/>
        </p:nvSpPr>
        <p:spPr>
          <a:xfrm>
            <a:off x="685800" y="1627631"/>
            <a:ext cx="5212080" cy="868680"/>
          </a:xfrm>
          <a:prstGeom prst="rect">
            <a:avLst/>
          </a:prstGeom>
          <a:noFill/>
        </p:spPr>
        <p:txBody>
          <a:bodyPr wrap="square" lIns="27432" tIns="18288" rIns="27432" bIns="18288">
            <a:spAutoFit/>
          </a:bodyPr>
          <a:lstStyle/>
          <a:p>
            <a:pPr>
              <a:spcAft>
                <a:spcPts val="600"/>
              </a:spcAft>
              <a:defRPr sz="1500" b="0">
                <a:solidFill>
                  <a:srgbClr val="202328"/>
                </a:solidFill>
                <a:latin typeface="Arial"/>
              </a:defRPr>
            </a:pPr>
            <a:r>
              <a:t>Holds the instruction currently being processed so that its operation code can be examined by the decoder.</a:t>
            </a:r>
          </a:p>
        </p:txBody>
      </p:sp>
      <p:sp>
        <p:nvSpPr>
          <p:cNvPr id="8" name="TextBox 7"/>
          <p:cNvSpPr txBox="1"/>
          <p:nvPr/>
        </p:nvSpPr>
        <p:spPr>
          <a:xfrm>
            <a:off x="6217920" y="1280160"/>
            <a:ext cx="521208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Instruction Decoder</a:t>
            </a:r>
          </a:p>
        </p:txBody>
      </p:sp>
      <p:sp>
        <p:nvSpPr>
          <p:cNvPr id="9" name="TextBox 8"/>
          <p:cNvSpPr txBox="1"/>
          <p:nvPr/>
        </p:nvSpPr>
        <p:spPr>
          <a:xfrm>
            <a:off x="6217920" y="1627631"/>
            <a:ext cx="5212080" cy="868680"/>
          </a:xfrm>
          <a:prstGeom prst="rect">
            <a:avLst/>
          </a:prstGeom>
          <a:noFill/>
        </p:spPr>
        <p:txBody>
          <a:bodyPr wrap="square" lIns="27432" tIns="18288" rIns="27432" bIns="18288">
            <a:spAutoFit/>
          </a:bodyPr>
          <a:lstStyle/>
          <a:p>
            <a:pPr>
              <a:spcAft>
                <a:spcPts val="600"/>
              </a:spcAft>
              <a:defRPr sz="1500" b="0">
                <a:solidFill>
                  <a:srgbClr val="202328"/>
                </a:solidFill>
                <a:latin typeface="Arial"/>
              </a:defRPr>
            </a:pPr>
            <a:r>
              <a:t>Interprets the instruction's operation code. It identifies the required action, such as loading data, adding, subtracting or jumping.</a:t>
            </a:r>
          </a:p>
        </p:txBody>
      </p:sp>
      <p:sp>
        <p:nvSpPr>
          <p:cNvPr id="10" name="TextBox 9"/>
          <p:cNvSpPr txBox="1"/>
          <p:nvPr/>
        </p:nvSpPr>
        <p:spPr>
          <a:xfrm>
            <a:off x="731520" y="3337560"/>
            <a:ext cx="10607040" cy="320040"/>
          </a:xfrm>
          <a:prstGeom prst="rect">
            <a:avLst/>
          </a:prstGeom>
          <a:noFill/>
        </p:spPr>
        <p:txBody>
          <a:bodyPr wrap="square" lIns="27432" tIns="18288" rIns="27432" bIns="18288">
            <a:spAutoFit/>
          </a:bodyPr>
          <a:lstStyle/>
          <a:p>
            <a:pPr>
              <a:spcAft>
                <a:spcPts val="600"/>
              </a:spcAft>
              <a:defRPr sz="1800" b="1">
                <a:solidFill>
                  <a:srgbClr val="1C2D44"/>
                </a:solidFill>
                <a:latin typeface="Arial"/>
              </a:defRPr>
            </a:pPr>
            <a:r>
              <a:t>Control signals</a:t>
            </a:r>
          </a:p>
        </p:txBody>
      </p:sp>
      <p:sp>
        <p:nvSpPr>
          <p:cNvPr id="11" name="TextBox 10"/>
          <p:cNvSpPr txBox="1"/>
          <p:nvPr/>
        </p:nvSpPr>
        <p:spPr>
          <a:xfrm>
            <a:off x="731520" y="3749039"/>
            <a:ext cx="10561320" cy="1234440"/>
          </a:xfrm>
          <a:prstGeom prst="rect">
            <a:avLst/>
          </a:prstGeom>
          <a:noFill/>
        </p:spPr>
        <p:txBody>
          <a:bodyPr wrap="square" lIns="27432" tIns="18288" rIns="27432" bIns="18288">
            <a:spAutoFit/>
          </a:bodyPr>
          <a:lstStyle/>
          <a:p>
            <a:pPr>
              <a:spcAft>
                <a:spcPts val="600"/>
              </a:spcAft>
              <a:defRPr sz="1600" b="0">
                <a:solidFill>
                  <a:srgbClr val="202328"/>
                </a:solidFill>
                <a:latin typeface="Arial"/>
              </a:defRPr>
            </a:pPr>
            <a:r>
              <a:t>The decoder activates the signals needed for the selected instruction. These signals control register inputs and outputs, RAM access, ALU mode, PC changes and output loading. The exact timing depends on the implementation.</a:t>
            </a:r>
          </a:p>
        </p:txBody>
      </p:sp>
      <p:sp>
        <p:nvSpPr>
          <p:cNvPr id="12" name="TextBox 11"/>
          <p:cNvSpPr txBox="1"/>
          <p:nvPr/>
        </p:nvSpPr>
        <p:spPr>
          <a:xfrm>
            <a:off x="731520" y="5486400"/>
            <a:ext cx="10607040" cy="344710"/>
          </a:xfrm>
          <a:prstGeom prst="rect">
            <a:avLst/>
          </a:prstGeom>
          <a:noFill/>
        </p:spPr>
        <p:txBody>
          <a:bodyPr wrap="square" lIns="27432" tIns="18288" rIns="27432" bIns="18288">
            <a:spAutoFit/>
          </a:bodyPr>
          <a:lstStyle/>
          <a:p>
            <a:pPr>
              <a:spcAft>
                <a:spcPts val="600"/>
              </a:spcAft>
              <a:defRPr sz="1600" b="1">
                <a:solidFill>
                  <a:srgbClr val="288791"/>
                </a:solidFill>
                <a:latin typeface="Arial"/>
              </a:defRPr>
            </a:pPr>
            <a:r>
              <a:rPr sz="2000" dirty="0">
                <a:solidFill>
                  <a:schemeClr val="accent4">
                    <a:lumMod val="75000"/>
                  </a:schemeClr>
                </a:solidFill>
              </a:rPr>
              <a:t>Instruction → IR → Decoder → Control signals → Selected operation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7. Registers and Their Functions</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t>8</a:t>
            </a:r>
          </a:p>
        </p:txBody>
      </p:sp>
      <p:sp>
        <p:nvSpPr>
          <p:cNvPr id="6" name="TextBox 5"/>
          <p:cNvSpPr txBox="1"/>
          <p:nvPr/>
        </p:nvSpPr>
        <p:spPr>
          <a:xfrm>
            <a:off x="685800" y="1234440"/>
            <a:ext cx="521208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A Register</a:t>
            </a:r>
          </a:p>
        </p:txBody>
      </p:sp>
      <p:sp>
        <p:nvSpPr>
          <p:cNvPr id="7" name="TextBox 6"/>
          <p:cNvSpPr txBox="1"/>
          <p:nvPr/>
        </p:nvSpPr>
        <p:spPr>
          <a:xfrm>
            <a:off x="685800" y="1581912"/>
            <a:ext cx="5212080" cy="868680"/>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Stores one 8-bit operand. When enabled, it can send its value to the bus or provide an input to the ALU.</a:t>
            </a:r>
          </a:p>
        </p:txBody>
      </p:sp>
      <p:sp>
        <p:nvSpPr>
          <p:cNvPr id="8" name="TextBox 7"/>
          <p:cNvSpPr txBox="1"/>
          <p:nvPr/>
        </p:nvSpPr>
        <p:spPr>
          <a:xfrm>
            <a:off x="6217920" y="1234440"/>
            <a:ext cx="521208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B Register</a:t>
            </a:r>
          </a:p>
        </p:txBody>
      </p:sp>
      <p:sp>
        <p:nvSpPr>
          <p:cNvPr id="9" name="TextBox 8"/>
          <p:cNvSpPr txBox="1"/>
          <p:nvPr/>
        </p:nvSpPr>
        <p:spPr>
          <a:xfrm>
            <a:off x="6217920" y="1581912"/>
            <a:ext cx="5212080" cy="868680"/>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Stores the second operand. Together, A and B provide the values needed for an ALU operation.</a:t>
            </a:r>
          </a:p>
        </p:txBody>
      </p:sp>
      <p:sp>
        <p:nvSpPr>
          <p:cNvPr id="10" name="TextBox 9"/>
          <p:cNvSpPr txBox="1"/>
          <p:nvPr/>
        </p:nvSpPr>
        <p:spPr>
          <a:xfrm>
            <a:off x="685800" y="3063240"/>
            <a:ext cx="521208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OUT Register</a:t>
            </a:r>
          </a:p>
        </p:txBody>
      </p:sp>
      <p:sp>
        <p:nvSpPr>
          <p:cNvPr id="11" name="TextBox 10"/>
          <p:cNvSpPr txBox="1"/>
          <p:nvPr/>
        </p:nvSpPr>
        <p:spPr>
          <a:xfrm>
            <a:off x="685800" y="3410712"/>
            <a:ext cx="5212080" cy="868680"/>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Stores the value selected for output. It holds the value steady while the display logic presents it.</a:t>
            </a:r>
          </a:p>
        </p:txBody>
      </p:sp>
      <p:sp>
        <p:nvSpPr>
          <p:cNvPr id="12" name="TextBox 11"/>
          <p:cNvSpPr txBox="1"/>
          <p:nvPr/>
        </p:nvSpPr>
        <p:spPr>
          <a:xfrm>
            <a:off x="6217920" y="3063240"/>
            <a:ext cx="521208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Flag Register</a:t>
            </a:r>
          </a:p>
        </p:txBody>
      </p:sp>
      <p:sp>
        <p:nvSpPr>
          <p:cNvPr id="13" name="TextBox 12"/>
          <p:cNvSpPr txBox="1"/>
          <p:nvPr/>
        </p:nvSpPr>
        <p:spPr>
          <a:xfrm>
            <a:off x="6217920" y="3410712"/>
            <a:ext cx="5212080" cy="868680"/>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Stores status information from the ALU, including Carry Flag (CF) and Zero Flag (ZF) where supported.</a:t>
            </a:r>
          </a:p>
        </p:txBody>
      </p:sp>
      <p:sp>
        <p:nvSpPr>
          <p:cNvPr id="14" name="TextBox 13"/>
          <p:cNvSpPr txBox="1"/>
          <p:nvPr/>
        </p:nvSpPr>
        <p:spPr>
          <a:xfrm>
            <a:off x="731520" y="5276088"/>
            <a:ext cx="10607040" cy="652486"/>
          </a:xfrm>
          <a:prstGeom prst="rect">
            <a:avLst/>
          </a:prstGeom>
          <a:noFill/>
        </p:spPr>
        <p:txBody>
          <a:bodyPr wrap="square" lIns="27432" tIns="18288" rIns="27432" bIns="18288">
            <a:spAutoFit/>
          </a:bodyPr>
          <a:lstStyle/>
          <a:p>
            <a:pPr>
              <a:spcAft>
                <a:spcPts val="600"/>
              </a:spcAft>
              <a:defRPr sz="1600" b="1">
                <a:solidFill>
                  <a:srgbClr val="288791"/>
                </a:solidFill>
                <a:latin typeface="Arial"/>
              </a:defRPr>
            </a:pPr>
            <a:r>
              <a:rPr sz="2000" dirty="0">
                <a:solidFill>
                  <a:schemeClr val="accent4">
                    <a:lumMod val="75000"/>
                  </a:schemeClr>
                </a:solidFill>
              </a:rPr>
              <a:t>Registers are small, fast storage locations used to hold addresses, instructions, operands and results temporarily.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8. ALU — Arithmetic Logic Unit</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t>9</a:t>
            </a:r>
          </a:p>
        </p:txBody>
      </p:sp>
      <p:sp>
        <p:nvSpPr>
          <p:cNvPr id="6" name="TextBox 5"/>
          <p:cNvSpPr txBox="1"/>
          <p:nvPr/>
        </p:nvSpPr>
        <p:spPr>
          <a:xfrm>
            <a:off x="731520" y="1280160"/>
            <a:ext cx="10607040" cy="594360"/>
          </a:xfrm>
          <a:prstGeom prst="rect">
            <a:avLst/>
          </a:prstGeom>
          <a:noFill/>
        </p:spPr>
        <p:txBody>
          <a:bodyPr wrap="square" lIns="27432" tIns="18288" rIns="27432" bIns="18288">
            <a:spAutoFit/>
          </a:bodyPr>
          <a:lstStyle/>
          <a:p>
            <a:pPr>
              <a:spcAft>
                <a:spcPts val="600"/>
              </a:spcAft>
              <a:defRPr sz="2000" b="1">
                <a:solidFill>
                  <a:srgbClr val="202328"/>
                </a:solidFill>
                <a:latin typeface="Arial"/>
              </a:defRPr>
            </a:pPr>
            <a:r>
              <a:t>The ALU is the part of the computer that performs arithmetic and logic operations on data.</a:t>
            </a:r>
          </a:p>
        </p:txBody>
      </p:sp>
      <p:sp>
        <p:nvSpPr>
          <p:cNvPr id="7" name="TextBox 6"/>
          <p:cNvSpPr txBox="1"/>
          <p:nvPr/>
        </p:nvSpPr>
        <p:spPr>
          <a:xfrm>
            <a:off x="822960" y="2240280"/>
            <a:ext cx="502920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Inputs</a:t>
            </a:r>
          </a:p>
        </p:txBody>
      </p:sp>
      <p:sp>
        <p:nvSpPr>
          <p:cNvPr id="8" name="TextBox 7"/>
          <p:cNvSpPr txBox="1"/>
          <p:nvPr/>
        </p:nvSpPr>
        <p:spPr>
          <a:xfrm>
            <a:off x="777240" y="2587752"/>
            <a:ext cx="5029200" cy="868680"/>
          </a:xfrm>
          <a:prstGeom prst="rect">
            <a:avLst/>
          </a:prstGeom>
          <a:noFill/>
        </p:spPr>
        <p:txBody>
          <a:bodyPr wrap="square" lIns="27432" tIns="18288" rIns="27432" bIns="18288">
            <a:spAutoFit/>
          </a:bodyPr>
          <a:lstStyle/>
          <a:p>
            <a:pPr>
              <a:spcAft>
                <a:spcPts val="600"/>
              </a:spcAft>
              <a:defRPr sz="1500" b="0">
                <a:solidFill>
                  <a:srgbClr val="202328"/>
                </a:solidFill>
                <a:latin typeface="Arial"/>
              </a:defRPr>
            </a:pPr>
            <a:r>
              <a:t>The A Register and B Register supply the operand values. Control signals select which operation the ALU should perform.</a:t>
            </a:r>
          </a:p>
        </p:txBody>
      </p:sp>
      <p:sp>
        <p:nvSpPr>
          <p:cNvPr id="9" name="TextBox 8"/>
          <p:cNvSpPr txBox="1"/>
          <p:nvPr/>
        </p:nvSpPr>
        <p:spPr>
          <a:xfrm>
            <a:off x="6217920" y="2240280"/>
            <a:ext cx="502920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Outputs</a:t>
            </a:r>
          </a:p>
        </p:txBody>
      </p:sp>
      <p:sp>
        <p:nvSpPr>
          <p:cNvPr id="10" name="TextBox 9"/>
          <p:cNvSpPr txBox="1"/>
          <p:nvPr/>
        </p:nvSpPr>
        <p:spPr>
          <a:xfrm>
            <a:off x="6217920" y="2587752"/>
            <a:ext cx="5029200" cy="868680"/>
          </a:xfrm>
          <a:prstGeom prst="rect">
            <a:avLst/>
          </a:prstGeom>
          <a:noFill/>
        </p:spPr>
        <p:txBody>
          <a:bodyPr wrap="square" lIns="27432" tIns="18288" rIns="27432" bIns="18288">
            <a:spAutoFit/>
          </a:bodyPr>
          <a:lstStyle/>
          <a:p>
            <a:pPr>
              <a:spcAft>
                <a:spcPts val="600"/>
              </a:spcAft>
              <a:defRPr sz="1500" b="0">
                <a:solidFill>
                  <a:srgbClr val="202328"/>
                </a:solidFill>
                <a:latin typeface="Arial"/>
              </a:defRPr>
            </a:pPr>
            <a:r>
              <a:t>The ALU produces a result. Depending on the circuit, the result can be placed on the bus, and status information is sent to the flag register.</a:t>
            </a:r>
          </a:p>
        </p:txBody>
      </p:sp>
      <p:sp>
        <p:nvSpPr>
          <p:cNvPr id="11" name="TextBox 10"/>
          <p:cNvSpPr txBox="1"/>
          <p:nvPr/>
        </p:nvSpPr>
        <p:spPr>
          <a:xfrm>
            <a:off x="777240" y="4251960"/>
            <a:ext cx="10424160" cy="320040"/>
          </a:xfrm>
          <a:prstGeom prst="rect">
            <a:avLst/>
          </a:prstGeom>
          <a:noFill/>
        </p:spPr>
        <p:txBody>
          <a:bodyPr wrap="square" lIns="27432" tIns="18288" rIns="27432" bIns="18288">
            <a:spAutoFit/>
          </a:bodyPr>
          <a:lstStyle/>
          <a:p>
            <a:pPr>
              <a:spcAft>
                <a:spcPts val="600"/>
              </a:spcAft>
              <a:defRPr sz="1800" b="1">
                <a:solidFill>
                  <a:srgbClr val="1C2D44"/>
                </a:solidFill>
                <a:latin typeface="Arial"/>
              </a:defRPr>
            </a:pPr>
            <a:r>
              <a:t>Example operations</a:t>
            </a:r>
          </a:p>
        </p:txBody>
      </p:sp>
      <p:sp>
        <p:nvSpPr>
          <p:cNvPr id="12" name="TextBox 11"/>
          <p:cNvSpPr txBox="1"/>
          <p:nvPr/>
        </p:nvSpPr>
        <p:spPr>
          <a:xfrm>
            <a:off x="822960" y="4709160"/>
            <a:ext cx="10424160" cy="685800"/>
          </a:xfrm>
          <a:prstGeom prst="rect">
            <a:avLst/>
          </a:prstGeom>
          <a:noFill/>
        </p:spPr>
        <p:txBody>
          <a:bodyPr wrap="square" lIns="27432" tIns="18288" rIns="27432" bIns="18288">
            <a:spAutoFit/>
          </a:bodyPr>
          <a:lstStyle/>
          <a:p>
            <a:pPr>
              <a:spcAft>
                <a:spcPts val="600"/>
              </a:spcAft>
              <a:defRPr sz="1700" b="0">
                <a:solidFill>
                  <a:srgbClr val="202328"/>
                </a:solidFill>
                <a:latin typeface="Arial"/>
              </a:defRPr>
            </a:pPr>
            <a:r>
              <a:t>Addition: A + B     |     Subtraction: A − B     |     Logic: AND / OR (if implemented)</a:t>
            </a:r>
          </a:p>
        </p:txBody>
      </p:sp>
      <p:sp>
        <p:nvSpPr>
          <p:cNvPr id="13" name="TextBox 12"/>
          <p:cNvSpPr txBox="1"/>
          <p:nvPr/>
        </p:nvSpPr>
        <p:spPr>
          <a:xfrm>
            <a:off x="777240" y="5715000"/>
            <a:ext cx="10515600" cy="344710"/>
          </a:xfrm>
          <a:prstGeom prst="rect">
            <a:avLst/>
          </a:prstGeom>
          <a:noFill/>
        </p:spPr>
        <p:txBody>
          <a:bodyPr wrap="square" lIns="27432" tIns="18288" rIns="27432" bIns="18288">
            <a:spAutoFit/>
          </a:bodyPr>
          <a:lstStyle/>
          <a:p>
            <a:pPr>
              <a:spcAft>
                <a:spcPts val="600"/>
              </a:spcAft>
              <a:defRPr sz="1300" b="0">
                <a:solidFill>
                  <a:srgbClr val="5F6670"/>
                </a:solidFill>
                <a:latin typeface="Arial"/>
              </a:defRPr>
            </a:pPr>
            <a:r>
              <a:rPr sz="2000" dirty="0">
                <a:solidFill>
                  <a:schemeClr val="accent4">
                    <a:lumMod val="75000"/>
                  </a:schemeClr>
                </a:solidFill>
              </a:rPr>
              <a:t>An 8-bit result uses 8 data bits; a carry may be stored separately in the Carry Flag</a:t>
            </a:r>
            <a:r>
              <a:rPr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9. Flag Register: Carry and Zero</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t>10</a:t>
            </a:r>
          </a:p>
        </p:txBody>
      </p:sp>
      <p:sp>
        <p:nvSpPr>
          <p:cNvPr id="6" name="TextBox 5"/>
          <p:cNvSpPr txBox="1"/>
          <p:nvPr/>
        </p:nvSpPr>
        <p:spPr>
          <a:xfrm>
            <a:off x="731520" y="1371600"/>
            <a:ext cx="512064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Carry Flag (CF)</a:t>
            </a:r>
          </a:p>
        </p:txBody>
      </p:sp>
      <p:sp>
        <p:nvSpPr>
          <p:cNvPr id="7" name="TextBox 6"/>
          <p:cNvSpPr txBox="1"/>
          <p:nvPr/>
        </p:nvSpPr>
        <p:spPr>
          <a:xfrm>
            <a:off x="731520" y="1719072"/>
            <a:ext cx="5120640" cy="868680"/>
          </a:xfrm>
          <a:prstGeom prst="rect">
            <a:avLst/>
          </a:prstGeom>
          <a:noFill/>
        </p:spPr>
        <p:txBody>
          <a:bodyPr wrap="square" lIns="27432" tIns="18288" rIns="27432" bIns="18288">
            <a:spAutoFit/>
          </a:bodyPr>
          <a:lstStyle/>
          <a:p>
            <a:pPr>
              <a:spcAft>
                <a:spcPts val="600"/>
              </a:spcAft>
              <a:defRPr sz="1600" b="0">
                <a:solidFill>
                  <a:srgbClr val="202328"/>
                </a:solidFill>
                <a:latin typeface="Arial"/>
              </a:defRPr>
            </a:pPr>
            <a:r>
              <a:t>Indicates that an arithmetic operation produced a carry beyond the 8-bit result. The design may use it for a conditional jump such as JC.</a:t>
            </a:r>
          </a:p>
        </p:txBody>
      </p:sp>
      <p:sp>
        <p:nvSpPr>
          <p:cNvPr id="8" name="TextBox 7"/>
          <p:cNvSpPr txBox="1"/>
          <p:nvPr/>
        </p:nvSpPr>
        <p:spPr>
          <a:xfrm>
            <a:off x="6217920" y="1371600"/>
            <a:ext cx="512064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Zero Flag (ZF)</a:t>
            </a:r>
          </a:p>
        </p:txBody>
      </p:sp>
      <p:sp>
        <p:nvSpPr>
          <p:cNvPr id="9" name="TextBox 8"/>
          <p:cNvSpPr txBox="1"/>
          <p:nvPr/>
        </p:nvSpPr>
        <p:spPr>
          <a:xfrm>
            <a:off x="6217920" y="1719072"/>
            <a:ext cx="5120640" cy="868680"/>
          </a:xfrm>
          <a:prstGeom prst="rect">
            <a:avLst/>
          </a:prstGeom>
          <a:noFill/>
        </p:spPr>
        <p:txBody>
          <a:bodyPr wrap="square" lIns="27432" tIns="18288" rIns="27432" bIns="18288">
            <a:spAutoFit/>
          </a:bodyPr>
          <a:lstStyle/>
          <a:p>
            <a:pPr>
              <a:spcAft>
                <a:spcPts val="600"/>
              </a:spcAft>
              <a:defRPr sz="1600" b="0">
                <a:solidFill>
                  <a:srgbClr val="202328"/>
                </a:solidFill>
                <a:latin typeface="Arial"/>
              </a:defRPr>
            </a:pPr>
            <a:r>
              <a:t>Becomes 1 when the ALU result is zero. The design may use it for a conditional jump such as JZ.</a:t>
            </a:r>
          </a:p>
        </p:txBody>
      </p:sp>
      <p:sp>
        <p:nvSpPr>
          <p:cNvPr id="10" name="TextBox 9"/>
          <p:cNvSpPr txBox="1"/>
          <p:nvPr/>
        </p:nvSpPr>
        <p:spPr>
          <a:xfrm>
            <a:off x="731520" y="3429000"/>
            <a:ext cx="10515600" cy="365760"/>
          </a:xfrm>
          <a:prstGeom prst="rect">
            <a:avLst/>
          </a:prstGeom>
          <a:noFill/>
        </p:spPr>
        <p:txBody>
          <a:bodyPr wrap="square" lIns="27432" tIns="18288" rIns="27432" bIns="18288">
            <a:spAutoFit/>
          </a:bodyPr>
          <a:lstStyle/>
          <a:p>
            <a:pPr>
              <a:spcAft>
                <a:spcPts val="600"/>
              </a:spcAft>
              <a:defRPr sz="1800" b="1">
                <a:solidFill>
                  <a:srgbClr val="1C2D44"/>
                </a:solidFill>
                <a:latin typeface="Arial"/>
              </a:defRPr>
            </a:pPr>
            <a:r>
              <a:t>Why do flags matter?</a:t>
            </a:r>
          </a:p>
        </p:txBody>
      </p:sp>
      <p:sp>
        <p:nvSpPr>
          <p:cNvPr id="11" name="TextBox 10"/>
          <p:cNvSpPr txBox="1"/>
          <p:nvPr/>
        </p:nvSpPr>
        <p:spPr>
          <a:xfrm>
            <a:off x="731520" y="3886200"/>
            <a:ext cx="10424160" cy="1097280"/>
          </a:xfrm>
          <a:prstGeom prst="rect">
            <a:avLst/>
          </a:prstGeom>
          <a:noFill/>
        </p:spPr>
        <p:txBody>
          <a:bodyPr wrap="square" lIns="27432" tIns="18288" rIns="27432" bIns="18288">
            <a:spAutoFit/>
          </a:bodyPr>
          <a:lstStyle/>
          <a:p>
            <a:pPr>
              <a:spcAft>
                <a:spcPts val="600"/>
              </a:spcAft>
              <a:defRPr sz="1700" b="0">
                <a:solidFill>
                  <a:srgbClr val="202328"/>
                </a:solidFill>
                <a:latin typeface="Arial"/>
              </a:defRPr>
            </a:pPr>
            <a:r>
              <a:t>Flags provide extra information about an ALU result. A program can use that information to decide whether to continue normally or jump to another instruction. Actual behaviour depends on the implemented control logic.</a:t>
            </a:r>
          </a:p>
        </p:txBody>
      </p:sp>
      <p:sp>
        <p:nvSpPr>
          <p:cNvPr id="12" name="TextBox 11"/>
          <p:cNvSpPr txBox="1"/>
          <p:nvPr/>
        </p:nvSpPr>
        <p:spPr>
          <a:xfrm>
            <a:off x="731520" y="5532120"/>
            <a:ext cx="10515600" cy="344710"/>
          </a:xfrm>
          <a:prstGeom prst="rect">
            <a:avLst/>
          </a:prstGeom>
          <a:noFill/>
        </p:spPr>
        <p:txBody>
          <a:bodyPr wrap="square" lIns="27432" tIns="18288" rIns="27432" bIns="18288">
            <a:spAutoFit/>
          </a:bodyPr>
          <a:lstStyle/>
          <a:p>
            <a:pPr>
              <a:spcAft>
                <a:spcPts val="600"/>
              </a:spcAft>
              <a:defRPr sz="1600" b="1">
                <a:solidFill>
                  <a:srgbClr val="288791"/>
                </a:solidFill>
                <a:latin typeface="Arial"/>
              </a:defRPr>
            </a:pPr>
            <a:r>
              <a:rPr sz="2000" dirty="0">
                <a:solidFill>
                  <a:schemeClr val="accent4">
                    <a:lumMod val="75000"/>
                  </a:schemeClr>
                </a:solidFill>
              </a:rPr>
              <a:t>CF = carry status     |     ZF = zero-result status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10. Control Signals — Meaning</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rPr dirty="0"/>
              <a:t>11</a:t>
            </a:r>
          </a:p>
        </p:txBody>
      </p:sp>
      <p:sp>
        <p:nvSpPr>
          <p:cNvPr id="6" name="TextBox 5"/>
          <p:cNvSpPr txBox="1"/>
          <p:nvPr/>
        </p:nvSpPr>
        <p:spPr>
          <a:xfrm>
            <a:off x="640080" y="1264634"/>
            <a:ext cx="3520440" cy="344710"/>
          </a:xfrm>
          <a:prstGeom prst="rect">
            <a:avLst/>
          </a:prstGeom>
          <a:noFill/>
        </p:spPr>
        <p:txBody>
          <a:bodyPr wrap="square" lIns="27432" tIns="18288" rIns="27432" bIns="18288">
            <a:spAutoFit/>
          </a:bodyPr>
          <a:lstStyle/>
          <a:p>
            <a:pPr>
              <a:spcAft>
                <a:spcPts val="600"/>
              </a:spcAft>
              <a:defRPr sz="1600" b="1">
                <a:solidFill>
                  <a:srgbClr val="1C2D44"/>
                </a:solidFill>
                <a:latin typeface="Arial"/>
              </a:defRPr>
            </a:pPr>
            <a:r>
              <a:rPr sz="2000" dirty="0"/>
              <a:t>MI</a:t>
            </a:r>
          </a:p>
        </p:txBody>
      </p:sp>
      <p:sp>
        <p:nvSpPr>
          <p:cNvPr id="7" name="TextBox 6"/>
          <p:cNvSpPr txBox="1"/>
          <p:nvPr/>
        </p:nvSpPr>
        <p:spPr>
          <a:xfrm>
            <a:off x="640080" y="1581912"/>
            <a:ext cx="3520440" cy="652486"/>
          </a:xfrm>
          <a:prstGeom prst="rect">
            <a:avLst/>
          </a:prstGeom>
          <a:noFill/>
        </p:spPr>
        <p:txBody>
          <a:bodyPr wrap="square" lIns="27432" tIns="18288" rIns="27432" bIns="18288">
            <a:spAutoFit/>
          </a:bodyPr>
          <a:lstStyle/>
          <a:p>
            <a:pPr>
              <a:spcAft>
                <a:spcPts val="600"/>
              </a:spcAft>
              <a:defRPr sz="1300" b="0">
                <a:solidFill>
                  <a:srgbClr val="202328"/>
                </a:solidFill>
                <a:latin typeface="Arial"/>
              </a:defRPr>
            </a:pPr>
            <a:r>
              <a:rPr sz="2000" dirty="0"/>
              <a:t>Memory Address Register IN — load an address into MAR.</a:t>
            </a:r>
          </a:p>
        </p:txBody>
      </p:sp>
      <p:sp>
        <p:nvSpPr>
          <p:cNvPr id="8" name="TextBox 7"/>
          <p:cNvSpPr txBox="1"/>
          <p:nvPr/>
        </p:nvSpPr>
        <p:spPr>
          <a:xfrm>
            <a:off x="4480560" y="1234440"/>
            <a:ext cx="3520440" cy="344710"/>
          </a:xfrm>
          <a:prstGeom prst="rect">
            <a:avLst/>
          </a:prstGeom>
          <a:noFill/>
        </p:spPr>
        <p:txBody>
          <a:bodyPr wrap="square" lIns="27432" tIns="18288" rIns="27432" bIns="18288">
            <a:spAutoFit/>
          </a:bodyPr>
          <a:lstStyle/>
          <a:p>
            <a:pPr>
              <a:spcAft>
                <a:spcPts val="600"/>
              </a:spcAft>
              <a:defRPr sz="1600" b="1">
                <a:solidFill>
                  <a:srgbClr val="1C2D44"/>
                </a:solidFill>
                <a:latin typeface="Arial"/>
              </a:defRPr>
            </a:pPr>
            <a:r>
              <a:rPr sz="2000" dirty="0"/>
              <a:t>RI / RO</a:t>
            </a:r>
          </a:p>
        </p:txBody>
      </p:sp>
      <p:sp>
        <p:nvSpPr>
          <p:cNvPr id="9" name="TextBox 8"/>
          <p:cNvSpPr txBox="1"/>
          <p:nvPr/>
        </p:nvSpPr>
        <p:spPr>
          <a:xfrm>
            <a:off x="4480560" y="1581912"/>
            <a:ext cx="3520440" cy="529376"/>
          </a:xfrm>
          <a:prstGeom prst="rect">
            <a:avLst/>
          </a:prstGeom>
          <a:noFill/>
        </p:spPr>
        <p:txBody>
          <a:bodyPr wrap="square" lIns="27432" tIns="18288" rIns="27432" bIns="18288">
            <a:spAutoFit/>
          </a:bodyPr>
          <a:lstStyle/>
          <a:p>
            <a:pPr>
              <a:spcAft>
                <a:spcPts val="600"/>
              </a:spcAft>
              <a:defRPr sz="1300" b="0">
                <a:solidFill>
                  <a:srgbClr val="202328"/>
                </a:solidFill>
                <a:latin typeface="Arial"/>
              </a:defRPr>
            </a:pPr>
            <a:r>
              <a:rPr sz="1600" dirty="0"/>
              <a:t>RAM IN / RAM OUT — write data to RAM / read data onto the bus</a:t>
            </a:r>
            <a:r>
              <a:rPr dirty="0"/>
              <a:t>.</a:t>
            </a:r>
          </a:p>
        </p:txBody>
      </p:sp>
      <p:sp>
        <p:nvSpPr>
          <p:cNvPr id="10" name="TextBox 9"/>
          <p:cNvSpPr txBox="1"/>
          <p:nvPr/>
        </p:nvSpPr>
        <p:spPr>
          <a:xfrm>
            <a:off x="8321040" y="1234440"/>
            <a:ext cx="3520440" cy="344710"/>
          </a:xfrm>
          <a:prstGeom prst="rect">
            <a:avLst/>
          </a:prstGeom>
          <a:noFill/>
        </p:spPr>
        <p:txBody>
          <a:bodyPr wrap="square" lIns="27432" tIns="18288" rIns="27432" bIns="18288">
            <a:spAutoFit/>
          </a:bodyPr>
          <a:lstStyle/>
          <a:p>
            <a:pPr>
              <a:spcAft>
                <a:spcPts val="600"/>
              </a:spcAft>
              <a:defRPr sz="1600" b="1">
                <a:solidFill>
                  <a:srgbClr val="1C2D44"/>
                </a:solidFill>
                <a:latin typeface="Arial"/>
              </a:defRPr>
            </a:pPr>
            <a:r>
              <a:rPr sz="2000" dirty="0"/>
              <a:t>II / IO</a:t>
            </a:r>
          </a:p>
        </p:txBody>
      </p:sp>
      <p:sp>
        <p:nvSpPr>
          <p:cNvPr id="11" name="TextBox 10"/>
          <p:cNvSpPr txBox="1"/>
          <p:nvPr/>
        </p:nvSpPr>
        <p:spPr>
          <a:xfrm>
            <a:off x="8321040" y="1581912"/>
            <a:ext cx="3520440" cy="529376"/>
          </a:xfrm>
          <a:prstGeom prst="rect">
            <a:avLst/>
          </a:prstGeom>
          <a:noFill/>
        </p:spPr>
        <p:txBody>
          <a:bodyPr wrap="square" lIns="27432" tIns="18288" rIns="27432" bIns="18288">
            <a:spAutoFit/>
          </a:bodyPr>
          <a:lstStyle/>
          <a:p>
            <a:pPr>
              <a:spcAft>
                <a:spcPts val="600"/>
              </a:spcAft>
              <a:defRPr sz="1300" b="0">
                <a:solidFill>
                  <a:srgbClr val="202328"/>
                </a:solidFill>
                <a:latin typeface="Arial"/>
              </a:defRPr>
            </a:pPr>
            <a:r>
              <a:rPr sz="1600" dirty="0"/>
              <a:t>Instruction Register IN / OUT — load or send instruction data.</a:t>
            </a:r>
          </a:p>
        </p:txBody>
      </p:sp>
      <p:sp>
        <p:nvSpPr>
          <p:cNvPr id="12" name="TextBox 11"/>
          <p:cNvSpPr txBox="1"/>
          <p:nvPr/>
        </p:nvSpPr>
        <p:spPr>
          <a:xfrm>
            <a:off x="640080" y="2715768"/>
            <a:ext cx="3520440" cy="344710"/>
          </a:xfrm>
          <a:prstGeom prst="rect">
            <a:avLst/>
          </a:prstGeom>
          <a:noFill/>
        </p:spPr>
        <p:txBody>
          <a:bodyPr wrap="square" lIns="27432" tIns="18288" rIns="27432" bIns="18288">
            <a:spAutoFit/>
          </a:bodyPr>
          <a:lstStyle/>
          <a:p>
            <a:pPr>
              <a:spcAft>
                <a:spcPts val="600"/>
              </a:spcAft>
              <a:defRPr sz="1600" b="1">
                <a:solidFill>
                  <a:srgbClr val="1C2D44"/>
                </a:solidFill>
                <a:latin typeface="Arial"/>
              </a:defRPr>
            </a:pPr>
            <a:r>
              <a:rPr sz="2000" dirty="0"/>
              <a:t>AI / AO</a:t>
            </a:r>
          </a:p>
        </p:txBody>
      </p:sp>
      <p:sp>
        <p:nvSpPr>
          <p:cNvPr id="13" name="TextBox 12"/>
          <p:cNvSpPr txBox="1"/>
          <p:nvPr/>
        </p:nvSpPr>
        <p:spPr>
          <a:xfrm>
            <a:off x="640080" y="3063240"/>
            <a:ext cx="3520440" cy="529376"/>
          </a:xfrm>
          <a:prstGeom prst="rect">
            <a:avLst/>
          </a:prstGeom>
          <a:noFill/>
        </p:spPr>
        <p:txBody>
          <a:bodyPr wrap="square" lIns="27432" tIns="18288" rIns="27432" bIns="18288">
            <a:spAutoFit/>
          </a:bodyPr>
          <a:lstStyle/>
          <a:p>
            <a:pPr>
              <a:spcAft>
                <a:spcPts val="600"/>
              </a:spcAft>
              <a:defRPr sz="1300" b="0">
                <a:solidFill>
                  <a:srgbClr val="202328"/>
                </a:solidFill>
                <a:latin typeface="Arial"/>
              </a:defRPr>
            </a:pPr>
            <a:r>
              <a:rPr sz="1600" dirty="0"/>
              <a:t>A Register IN / OUT — load A / send A to the bus.</a:t>
            </a:r>
          </a:p>
        </p:txBody>
      </p:sp>
      <p:sp>
        <p:nvSpPr>
          <p:cNvPr id="14" name="TextBox 13"/>
          <p:cNvSpPr txBox="1"/>
          <p:nvPr/>
        </p:nvSpPr>
        <p:spPr>
          <a:xfrm>
            <a:off x="4480560" y="2715768"/>
            <a:ext cx="3520440" cy="344710"/>
          </a:xfrm>
          <a:prstGeom prst="rect">
            <a:avLst/>
          </a:prstGeom>
          <a:noFill/>
        </p:spPr>
        <p:txBody>
          <a:bodyPr wrap="square" lIns="27432" tIns="18288" rIns="27432" bIns="18288">
            <a:spAutoFit/>
          </a:bodyPr>
          <a:lstStyle/>
          <a:p>
            <a:pPr>
              <a:spcAft>
                <a:spcPts val="600"/>
              </a:spcAft>
              <a:defRPr sz="1600" b="1">
                <a:solidFill>
                  <a:srgbClr val="1C2D44"/>
                </a:solidFill>
                <a:latin typeface="Arial"/>
              </a:defRPr>
            </a:pPr>
            <a:r>
              <a:rPr sz="2000" dirty="0"/>
              <a:t>BI / BO</a:t>
            </a:r>
          </a:p>
        </p:txBody>
      </p:sp>
      <p:sp>
        <p:nvSpPr>
          <p:cNvPr id="15" name="TextBox 14"/>
          <p:cNvSpPr txBox="1"/>
          <p:nvPr/>
        </p:nvSpPr>
        <p:spPr>
          <a:xfrm>
            <a:off x="4480560" y="3063240"/>
            <a:ext cx="3520440" cy="529376"/>
          </a:xfrm>
          <a:prstGeom prst="rect">
            <a:avLst/>
          </a:prstGeom>
          <a:noFill/>
        </p:spPr>
        <p:txBody>
          <a:bodyPr wrap="square" lIns="27432" tIns="18288" rIns="27432" bIns="18288">
            <a:spAutoFit/>
          </a:bodyPr>
          <a:lstStyle/>
          <a:p>
            <a:pPr>
              <a:spcAft>
                <a:spcPts val="600"/>
              </a:spcAft>
              <a:defRPr sz="1300" b="0">
                <a:solidFill>
                  <a:srgbClr val="202328"/>
                </a:solidFill>
                <a:latin typeface="Arial"/>
              </a:defRPr>
            </a:pPr>
            <a:r>
              <a:rPr sz="1600" dirty="0"/>
              <a:t>B Register IN / OUT — load B / send B to the bus.</a:t>
            </a:r>
          </a:p>
        </p:txBody>
      </p:sp>
      <p:sp>
        <p:nvSpPr>
          <p:cNvPr id="16" name="TextBox 15"/>
          <p:cNvSpPr txBox="1"/>
          <p:nvPr/>
        </p:nvSpPr>
        <p:spPr>
          <a:xfrm>
            <a:off x="8321040" y="2715768"/>
            <a:ext cx="3520440" cy="344710"/>
          </a:xfrm>
          <a:prstGeom prst="rect">
            <a:avLst/>
          </a:prstGeom>
          <a:noFill/>
        </p:spPr>
        <p:txBody>
          <a:bodyPr wrap="square" lIns="27432" tIns="18288" rIns="27432" bIns="18288">
            <a:spAutoFit/>
          </a:bodyPr>
          <a:lstStyle/>
          <a:p>
            <a:pPr>
              <a:spcAft>
                <a:spcPts val="600"/>
              </a:spcAft>
              <a:defRPr sz="1600" b="1">
                <a:solidFill>
                  <a:srgbClr val="1C2D44"/>
                </a:solidFill>
                <a:latin typeface="Arial"/>
              </a:defRPr>
            </a:pPr>
            <a:r>
              <a:rPr sz="2000" dirty="0"/>
              <a:t>OI</a:t>
            </a:r>
          </a:p>
        </p:txBody>
      </p:sp>
      <p:sp>
        <p:nvSpPr>
          <p:cNvPr id="17" name="TextBox 16"/>
          <p:cNvSpPr txBox="1"/>
          <p:nvPr/>
        </p:nvSpPr>
        <p:spPr>
          <a:xfrm>
            <a:off x="8321040" y="3063240"/>
            <a:ext cx="3520440" cy="529376"/>
          </a:xfrm>
          <a:prstGeom prst="rect">
            <a:avLst/>
          </a:prstGeom>
          <a:noFill/>
        </p:spPr>
        <p:txBody>
          <a:bodyPr wrap="square" lIns="27432" tIns="18288" rIns="27432" bIns="18288">
            <a:spAutoFit/>
          </a:bodyPr>
          <a:lstStyle/>
          <a:p>
            <a:pPr>
              <a:spcAft>
                <a:spcPts val="600"/>
              </a:spcAft>
              <a:defRPr sz="1300" b="0">
                <a:solidFill>
                  <a:srgbClr val="202328"/>
                </a:solidFill>
                <a:latin typeface="Arial"/>
              </a:defRPr>
            </a:pPr>
            <a:r>
              <a:rPr sz="1600" dirty="0"/>
              <a:t>Output Register IN — load the value for display.</a:t>
            </a:r>
          </a:p>
        </p:txBody>
      </p:sp>
      <p:sp>
        <p:nvSpPr>
          <p:cNvPr id="18" name="TextBox 17"/>
          <p:cNvSpPr txBox="1"/>
          <p:nvPr/>
        </p:nvSpPr>
        <p:spPr>
          <a:xfrm>
            <a:off x="640080" y="4197096"/>
            <a:ext cx="3520440" cy="344710"/>
          </a:xfrm>
          <a:prstGeom prst="rect">
            <a:avLst/>
          </a:prstGeom>
          <a:noFill/>
        </p:spPr>
        <p:txBody>
          <a:bodyPr wrap="square" lIns="27432" tIns="18288" rIns="27432" bIns="18288">
            <a:spAutoFit/>
          </a:bodyPr>
          <a:lstStyle/>
          <a:p>
            <a:pPr>
              <a:spcAft>
                <a:spcPts val="600"/>
              </a:spcAft>
              <a:defRPr sz="1600" b="1">
                <a:solidFill>
                  <a:srgbClr val="1C2D44"/>
                </a:solidFill>
                <a:latin typeface="Arial"/>
              </a:defRPr>
            </a:pPr>
            <a:r>
              <a:rPr sz="2000" dirty="0"/>
              <a:t>CO / CE / J</a:t>
            </a:r>
          </a:p>
        </p:txBody>
      </p:sp>
      <p:sp>
        <p:nvSpPr>
          <p:cNvPr id="19" name="TextBox 18"/>
          <p:cNvSpPr txBox="1"/>
          <p:nvPr/>
        </p:nvSpPr>
        <p:spPr>
          <a:xfrm>
            <a:off x="685800" y="4570131"/>
            <a:ext cx="3520440" cy="529376"/>
          </a:xfrm>
          <a:prstGeom prst="rect">
            <a:avLst/>
          </a:prstGeom>
          <a:noFill/>
        </p:spPr>
        <p:txBody>
          <a:bodyPr wrap="square" lIns="27432" tIns="18288" rIns="27432" bIns="18288">
            <a:spAutoFit/>
          </a:bodyPr>
          <a:lstStyle/>
          <a:p>
            <a:pPr>
              <a:spcAft>
                <a:spcPts val="600"/>
              </a:spcAft>
              <a:defRPr sz="1300" b="0">
                <a:solidFill>
                  <a:srgbClr val="202328"/>
                </a:solidFill>
                <a:latin typeface="Arial"/>
              </a:defRPr>
            </a:pPr>
            <a:r>
              <a:rPr sz="1600" dirty="0"/>
              <a:t>Counter OUT / Count Enable / Jump control for the PC.</a:t>
            </a:r>
          </a:p>
        </p:txBody>
      </p:sp>
      <p:sp>
        <p:nvSpPr>
          <p:cNvPr id="20" name="TextBox 19"/>
          <p:cNvSpPr txBox="1"/>
          <p:nvPr/>
        </p:nvSpPr>
        <p:spPr>
          <a:xfrm>
            <a:off x="4480560" y="4197096"/>
            <a:ext cx="3520440" cy="344710"/>
          </a:xfrm>
          <a:prstGeom prst="rect">
            <a:avLst/>
          </a:prstGeom>
          <a:noFill/>
        </p:spPr>
        <p:txBody>
          <a:bodyPr wrap="square" lIns="27432" tIns="18288" rIns="27432" bIns="18288">
            <a:spAutoFit/>
          </a:bodyPr>
          <a:lstStyle/>
          <a:p>
            <a:pPr>
              <a:spcAft>
                <a:spcPts val="600"/>
              </a:spcAft>
              <a:defRPr sz="1600" b="1">
                <a:solidFill>
                  <a:srgbClr val="1C2D44"/>
                </a:solidFill>
                <a:latin typeface="Arial"/>
              </a:defRPr>
            </a:pPr>
            <a:r>
              <a:rPr sz="2000" dirty="0"/>
              <a:t>EO / SU</a:t>
            </a:r>
          </a:p>
        </p:txBody>
      </p:sp>
      <p:sp>
        <p:nvSpPr>
          <p:cNvPr id="21" name="TextBox 20"/>
          <p:cNvSpPr txBox="1"/>
          <p:nvPr/>
        </p:nvSpPr>
        <p:spPr>
          <a:xfrm>
            <a:off x="4480560" y="4544568"/>
            <a:ext cx="3520440" cy="529376"/>
          </a:xfrm>
          <a:prstGeom prst="rect">
            <a:avLst/>
          </a:prstGeom>
          <a:noFill/>
        </p:spPr>
        <p:txBody>
          <a:bodyPr wrap="square" lIns="27432" tIns="18288" rIns="27432" bIns="18288">
            <a:spAutoFit/>
          </a:bodyPr>
          <a:lstStyle/>
          <a:p>
            <a:pPr>
              <a:spcAft>
                <a:spcPts val="600"/>
              </a:spcAft>
              <a:defRPr sz="1300" b="0">
                <a:solidFill>
                  <a:srgbClr val="202328"/>
                </a:solidFill>
                <a:latin typeface="Arial"/>
              </a:defRPr>
            </a:pPr>
            <a:r>
              <a:rPr sz="1600" dirty="0"/>
              <a:t>ALU result OUT / select subtraction, as defined by the design.</a:t>
            </a:r>
          </a:p>
        </p:txBody>
      </p:sp>
      <p:sp>
        <p:nvSpPr>
          <p:cNvPr id="22" name="TextBox 21"/>
          <p:cNvSpPr txBox="1"/>
          <p:nvPr/>
        </p:nvSpPr>
        <p:spPr>
          <a:xfrm>
            <a:off x="8321040" y="4197096"/>
            <a:ext cx="3520440" cy="344710"/>
          </a:xfrm>
          <a:prstGeom prst="rect">
            <a:avLst/>
          </a:prstGeom>
          <a:noFill/>
        </p:spPr>
        <p:txBody>
          <a:bodyPr wrap="square" lIns="27432" tIns="18288" rIns="27432" bIns="18288">
            <a:spAutoFit/>
          </a:bodyPr>
          <a:lstStyle/>
          <a:p>
            <a:pPr>
              <a:spcAft>
                <a:spcPts val="600"/>
              </a:spcAft>
              <a:defRPr sz="1600" b="1">
                <a:solidFill>
                  <a:srgbClr val="1C2D44"/>
                </a:solidFill>
                <a:latin typeface="Arial"/>
              </a:defRPr>
            </a:pPr>
            <a:r>
              <a:rPr sz="2000" dirty="0"/>
              <a:t>CF / ZF</a:t>
            </a:r>
          </a:p>
        </p:txBody>
      </p:sp>
      <p:sp>
        <p:nvSpPr>
          <p:cNvPr id="23" name="TextBox 22"/>
          <p:cNvSpPr txBox="1"/>
          <p:nvPr/>
        </p:nvSpPr>
        <p:spPr>
          <a:xfrm>
            <a:off x="8321040" y="4544568"/>
            <a:ext cx="3520440" cy="529376"/>
          </a:xfrm>
          <a:prstGeom prst="rect">
            <a:avLst/>
          </a:prstGeom>
          <a:noFill/>
        </p:spPr>
        <p:txBody>
          <a:bodyPr wrap="square" lIns="27432" tIns="18288" rIns="27432" bIns="18288">
            <a:spAutoFit/>
          </a:bodyPr>
          <a:lstStyle/>
          <a:p>
            <a:pPr>
              <a:spcAft>
                <a:spcPts val="600"/>
              </a:spcAft>
              <a:defRPr sz="1300" b="0">
                <a:solidFill>
                  <a:srgbClr val="202328"/>
                </a:solidFill>
                <a:latin typeface="Arial"/>
              </a:defRPr>
            </a:pPr>
            <a:r>
              <a:rPr sz="1600" dirty="0"/>
              <a:t>Carry Flag / Zero Flag status indicators.</a:t>
            </a:r>
          </a:p>
        </p:txBody>
      </p:sp>
      <p:sp>
        <p:nvSpPr>
          <p:cNvPr id="24" name="TextBox 23"/>
          <p:cNvSpPr txBox="1"/>
          <p:nvPr/>
        </p:nvSpPr>
        <p:spPr>
          <a:xfrm>
            <a:off x="685800" y="5897880"/>
            <a:ext cx="10789920" cy="344710"/>
          </a:xfrm>
          <a:prstGeom prst="rect">
            <a:avLst/>
          </a:prstGeom>
          <a:noFill/>
        </p:spPr>
        <p:txBody>
          <a:bodyPr wrap="square" lIns="27432" tIns="18288" rIns="27432" bIns="18288">
            <a:spAutoFit/>
          </a:bodyPr>
          <a:lstStyle/>
          <a:p>
            <a:pPr>
              <a:spcAft>
                <a:spcPts val="600"/>
              </a:spcAft>
              <a:defRPr sz="1100" b="0">
                <a:solidFill>
                  <a:srgbClr val="5F6670"/>
                </a:solidFill>
                <a:latin typeface="Arial"/>
              </a:defRPr>
            </a:pPr>
            <a:r>
              <a:rPr sz="2000" dirty="0">
                <a:solidFill>
                  <a:schemeClr val="accent4">
                    <a:lumMod val="75000"/>
                  </a:schemeClr>
                </a:solidFill>
              </a:rPr>
              <a:t>Signal labels describe their function; active level and timing depend on the circuit.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11. Instruction Flow: Fetch to Output</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t>12</a:t>
            </a:r>
          </a:p>
        </p:txBody>
      </p:sp>
      <p:sp>
        <p:nvSpPr>
          <p:cNvPr id="6" name="TextBox 5"/>
          <p:cNvSpPr txBox="1"/>
          <p:nvPr/>
        </p:nvSpPr>
        <p:spPr>
          <a:xfrm>
            <a:off x="731520" y="1143000"/>
            <a:ext cx="1600200" cy="292608"/>
          </a:xfrm>
          <a:prstGeom prst="rect">
            <a:avLst/>
          </a:prstGeom>
          <a:noFill/>
        </p:spPr>
        <p:txBody>
          <a:bodyPr wrap="square" lIns="27432" tIns="18288" rIns="27432" bIns="18288">
            <a:spAutoFit/>
          </a:bodyPr>
          <a:lstStyle/>
          <a:p>
            <a:pPr>
              <a:spcAft>
                <a:spcPts val="600"/>
              </a:spcAft>
              <a:defRPr sz="1500" b="1">
                <a:solidFill>
                  <a:srgbClr val="1C2D44"/>
                </a:solidFill>
                <a:latin typeface="Arial"/>
              </a:defRPr>
            </a:pPr>
            <a:r>
              <a:rPr dirty="0"/>
              <a:t>1. FETCH</a:t>
            </a:r>
          </a:p>
        </p:txBody>
      </p:sp>
      <p:sp>
        <p:nvSpPr>
          <p:cNvPr id="7" name="TextBox 6"/>
          <p:cNvSpPr txBox="1"/>
          <p:nvPr/>
        </p:nvSpPr>
        <p:spPr>
          <a:xfrm>
            <a:off x="2331720" y="1143000"/>
            <a:ext cx="9098280" cy="594360"/>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rPr dirty="0"/>
              <a:t>PC identifies the next instruction address. The address is selected for RAM access and the instruction is read.</a:t>
            </a:r>
          </a:p>
        </p:txBody>
      </p:sp>
      <p:sp>
        <p:nvSpPr>
          <p:cNvPr id="8" name="TextBox 7"/>
          <p:cNvSpPr txBox="1"/>
          <p:nvPr/>
        </p:nvSpPr>
        <p:spPr>
          <a:xfrm>
            <a:off x="731520" y="1938528"/>
            <a:ext cx="1600200" cy="292608"/>
          </a:xfrm>
          <a:prstGeom prst="rect">
            <a:avLst/>
          </a:prstGeom>
          <a:noFill/>
        </p:spPr>
        <p:txBody>
          <a:bodyPr wrap="square" lIns="27432" tIns="18288" rIns="27432" bIns="18288">
            <a:spAutoFit/>
          </a:bodyPr>
          <a:lstStyle/>
          <a:p>
            <a:pPr>
              <a:spcAft>
                <a:spcPts val="600"/>
              </a:spcAft>
              <a:defRPr sz="1500" b="1">
                <a:solidFill>
                  <a:srgbClr val="1C2D44"/>
                </a:solidFill>
                <a:latin typeface="Arial"/>
              </a:defRPr>
            </a:pPr>
            <a:r>
              <a:t>2. LOAD</a:t>
            </a:r>
          </a:p>
        </p:txBody>
      </p:sp>
      <p:sp>
        <p:nvSpPr>
          <p:cNvPr id="9" name="TextBox 8"/>
          <p:cNvSpPr txBox="1"/>
          <p:nvPr/>
        </p:nvSpPr>
        <p:spPr>
          <a:xfrm>
            <a:off x="2331720" y="1938528"/>
            <a:ext cx="9098280" cy="594360"/>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The fetched instruction is placed in the Instruction Register. The PC advances unless the instruction changes the flow.</a:t>
            </a:r>
          </a:p>
        </p:txBody>
      </p:sp>
      <p:sp>
        <p:nvSpPr>
          <p:cNvPr id="10" name="TextBox 9"/>
          <p:cNvSpPr txBox="1"/>
          <p:nvPr/>
        </p:nvSpPr>
        <p:spPr>
          <a:xfrm>
            <a:off x="731520" y="2734056"/>
            <a:ext cx="1600200" cy="292608"/>
          </a:xfrm>
          <a:prstGeom prst="rect">
            <a:avLst/>
          </a:prstGeom>
          <a:noFill/>
        </p:spPr>
        <p:txBody>
          <a:bodyPr wrap="square" lIns="27432" tIns="18288" rIns="27432" bIns="18288">
            <a:spAutoFit/>
          </a:bodyPr>
          <a:lstStyle/>
          <a:p>
            <a:pPr>
              <a:spcAft>
                <a:spcPts val="600"/>
              </a:spcAft>
              <a:defRPr sz="1500" b="1">
                <a:solidFill>
                  <a:srgbClr val="1C2D44"/>
                </a:solidFill>
                <a:latin typeface="Arial"/>
              </a:defRPr>
            </a:pPr>
            <a:r>
              <a:t>3. DECODE</a:t>
            </a:r>
          </a:p>
        </p:txBody>
      </p:sp>
      <p:sp>
        <p:nvSpPr>
          <p:cNvPr id="11" name="TextBox 10"/>
          <p:cNvSpPr txBox="1"/>
          <p:nvPr/>
        </p:nvSpPr>
        <p:spPr>
          <a:xfrm>
            <a:off x="2331720" y="2734056"/>
            <a:ext cx="9098280" cy="594360"/>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The decoder examines the instruction and activates the control signals required for that operation.</a:t>
            </a:r>
          </a:p>
        </p:txBody>
      </p:sp>
      <p:sp>
        <p:nvSpPr>
          <p:cNvPr id="12" name="TextBox 11"/>
          <p:cNvSpPr txBox="1"/>
          <p:nvPr/>
        </p:nvSpPr>
        <p:spPr>
          <a:xfrm>
            <a:off x="731520" y="3529584"/>
            <a:ext cx="1600200" cy="292608"/>
          </a:xfrm>
          <a:prstGeom prst="rect">
            <a:avLst/>
          </a:prstGeom>
          <a:noFill/>
        </p:spPr>
        <p:txBody>
          <a:bodyPr wrap="square" lIns="27432" tIns="18288" rIns="27432" bIns="18288">
            <a:spAutoFit/>
          </a:bodyPr>
          <a:lstStyle/>
          <a:p>
            <a:pPr>
              <a:spcAft>
                <a:spcPts val="600"/>
              </a:spcAft>
              <a:defRPr sz="1500" b="1">
                <a:solidFill>
                  <a:srgbClr val="1C2D44"/>
                </a:solidFill>
                <a:latin typeface="Arial"/>
              </a:defRPr>
            </a:pPr>
            <a:r>
              <a:t>4. EXECUTE</a:t>
            </a:r>
          </a:p>
        </p:txBody>
      </p:sp>
      <p:sp>
        <p:nvSpPr>
          <p:cNvPr id="13" name="TextBox 12"/>
          <p:cNvSpPr txBox="1"/>
          <p:nvPr/>
        </p:nvSpPr>
        <p:spPr>
          <a:xfrm>
            <a:off x="2331720" y="3529584"/>
            <a:ext cx="9098280" cy="594360"/>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Operands are moved into the A and B registers. The ALU performs the selected operation.</a:t>
            </a:r>
          </a:p>
        </p:txBody>
      </p:sp>
      <p:sp>
        <p:nvSpPr>
          <p:cNvPr id="14" name="TextBox 13"/>
          <p:cNvSpPr txBox="1"/>
          <p:nvPr/>
        </p:nvSpPr>
        <p:spPr>
          <a:xfrm>
            <a:off x="731520" y="4325112"/>
            <a:ext cx="1600200" cy="292608"/>
          </a:xfrm>
          <a:prstGeom prst="rect">
            <a:avLst/>
          </a:prstGeom>
          <a:noFill/>
        </p:spPr>
        <p:txBody>
          <a:bodyPr wrap="square" lIns="27432" tIns="18288" rIns="27432" bIns="18288">
            <a:spAutoFit/>
          </a:bodyPr>
          <a:lstStyle/>
          <a:p>
            <a:pPr>
              <a:spcAft>
                <a:spcPts val="600"/>
              </a:spcAft>
              <a:defRPr sz="1500" b="1">
                <a:solidFill>
                  <a:srgbClr val="1C2D44"/>
                </a:solidFill>
                <a:latin typeface="Arial"/>
              </a:defRPr>
            </a:pPr>
            <a:r>
              <a:t>5. STORE</a:t>
            </a:r>
          </a:p>
        </p:txBody>
      </p:sp>
      <p:sp>
        <p:nvSpPr>
          <p:cNvPr id="15" name="TextBox 14"/>
          <p:cNvSpPr txBox="1"/>
          <p:nvPr/>
        </p:nvSpPr>
        <p:spPr>
          <a:xfrm>
            <a:off x="2331720" y="4325112"/>
            <a:ext cx="9098280" cy="594360"/>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The result may be transferred to a register or written to RAM. Status flags may be updated.</a:t>
            </a:r>
          </a:p>
        </p:txBody>
      </p:sp>
      <p:sp>
        <p:nvSpPr>
          <p:cNvPr id="16" name="TextBox 15"/>
          <p:cNvSpPr txBox="1"/>
          <p:nvPr/>
        </p:nvSpPr>
        <p:spPr>
          <a:xfrm>
            <a:off x="731520" y="5120640"/>
            <a:ext cx="1600200" cy="292608"/>
          </a:xfrm>
          <a:prstGeom prst="rect">
            <a:avLst/>
          </a:prstGeom>
          <a:noFill/>
        </p:spPr>
        <p:txBody>
          <a:bodyPr wrap="square" lIns="27432" tIns="18288" rIns="27432" bIns="18288">
            <a:spAutoFit/>
          </a:bodyPr>
          <a:lstStyle/>
          <a:p>
            <a:pPr>
              <a:spcAft>
                <a:spcPts val="600"/>
              </a:spcAft>
              <a:defRPr sz="1500" b="1">
                <a:solidFill>
                  <a:srgbClr val="1C2D44"/>
                </a:solidFill>
                <a:latin typeface="Arial"/>
              </a:defRPr>
            </a:pPr>
            <a:r>
              <a:t>6. DISPLAY</a:t>
            </a:r>
          </a:p>
        </p:txBody>
      </p:sp>
      <p:sp>
        <p:nvSpPr>
          <p:cNvPr id="17" name="TextBox 16"/>
          <p:cNvSpPr txBox="1"/>
          <p:nvPr/>
        </p:nvSpPr>
        <p:spPr>
          <a:xfrm>
            <a:off x="2331720" y="5120640"/>
            <a:ext cx="9098280" cy="594360"/>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For an output operation, the OUT Register receives the value and the 7-segment display shows it.</a:t>
            </a:r>
          </a:p>
        </p:txBody>
      </p:sp>
      <p:sp>
        <p:nvSpPr>
          <p:cNvPr id="18" name="TextBox 17"/>
          <p:cNvSpPr txBox="1"/>
          <p:nvPr/>
        </p:nvSpPr>
        <p:spPr>
          <a:xfrm>
            <a:off x="685800" y="5743813"/>
            <a:ext cx="10698480" cy="344710"/>
          </a:xfrm>
          <a:prstGeom prst="rect">
            <a:avLst/>
          </a:prstGeom>
          <a:noFill/>
        </p:spPr>
        <p:txBody>
          <a:bodyPr wrap="square" lIns="27432" tIns="18288" rIns="27432" bIns="18288">
            <a:spAutoFit/>
          </a:bodyPr>
          <a:lstStyle/>
          <a:p>
            <a:pPr>
              <a:spcAft>
                <a:spcPts val="600"/>
              </a:spcAft>
              <a:defRPr sz="1200" b="1">
                <a:solidFill>
                  <a:srgbClr val="288791"/>
                </a:solidFill>
                <a:latin typeface="Arial"/>
              </a:defRPr>
            </a:pPr>
            <a:r>
              <a:rPr sz="2000" dirty="0">
                <a:solidFill>
                  <a:schemeClr val="accent4">
                    <a:lumMod val="75000"/>
                  </a:schemeClr>
                </a:solidFill>
              </a:rPr>
              <a:t>The clock and control signals coordinate these steps.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12. Example: Adding 5 and 3</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t>13</a:t>
            </a:r>
          </a:p>
        </p:txBody>
      </p:sp>
      <p:sp>
        <p:nvSpPr>
          <p:cNvPr id="6" name="TextBox 5"/>
          <p:cNvSpPr txBox="1"/>
          <p:nvPr/>
        </p:nvSpPr>
        <p:spPr>
          <a:xfrm>
            <a:off x="731520" y="1234440"/>
            <a:ext cx="2240280" cy="310896"/>
          </a:xfrm>
          <a:prstGeom prst="rect">
            <a:avLst/>
          </a:prstGeom>
          <a:noFill/>
        </p:spPr>
        <p:txBody>
          <a:bodyPr wrap="square" lIns="27432" tIns="18288" rIns="27432" bIns="18288">
            <a:spAutoFit/>
          </a:bodyPr>
          <a:lstStyle/>
          <a:p>
            <a:pPr>
              <a:spcAft>
                <a:spcPts val="600"/>
              </a:spcAft>
              <a:defRPr sz="1500" b="1">
                <a:solidFill>
                  <a:srgbClr val="1C2D44"/>
                </a:solidFill>
                <a:latin typeface="Arial"/>
              </a:defRPr>
            </a:pPr>
            <a:r>
              <a:t>Step 1 — Fetch</a:t>
            </a:r>
          </a:p>
        </p:txBody>
      </p:sp>
      <p:sp>
        <p:nvSpPr>
          <p:cNvPr id="7" name="TextBox 6"/>
          <p:cNvSpPr txBox="1"/>
          <p:nvPr/>
        </p:nvSpPr>
        <p:spPr>
          <a:xfrm>
            <a:off x="2880360" y="1234440"/>
            <a:ext cx="8458200" cy="530352"/>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The computer fetches the ADD instruction from RAM.</a:t>
            </a:r>
          </a:p>
        </p:txBody>
      </p:sp>
      <p:sp>
        <p:nvSpPr>
          <p:cNvPr id="8" name="TextBox 7"/>
          <p:cNvSpPr txBox="1"/>
          <p:nvPr/>
        </p:nvSpPr>
        <p:spPr>
          <a:xfrm>
            <a:off x="731520" y="1984248"/>
            <a:ext cx="2240280" cy="310896"/>
          </a:xfrm>
          <a:prstGeom prst="rect">
            <a:avLst/>
          </a:prstGeom>
          <a:noFill/>
        </p:spPr>
        <p:txBody>
          <a:bodyPr wrap="square" lIns="27432" tIns="18288" rIns="27432" bIns="18288">
            <a:spAutoFit/>
          </a:bodyPr>
          <a:lstStyle/>
          <a:p>
            <a:pPr>
              <a:spcAft>
                <a:spcPts val="600"/>
              </a:spcAft>
              <a:defRPr sz="1500" b="1">
                <a:solidFill>
                  <a:srgbClr val="1C2D44"/>
                </a:solidFill>
                <a:latin typeface="Arial"/>
              </a:defRPr>
            </a:pPr>
            <a:r>
              <a:t>Step 2 — Load A</a:t>
            </a:r>
          </a:p>
        </p:txBody>
      </p:sp>
      <p:sp>
        <p:nvSpPr>
          <p:cNvPr id="9" name="TextBox 8"/>
          <p:cNvSpPr txBox="1"/>
          <p:nvPr/>
        </p:nvSpPr>
        <p:spPr>
          <a:xfrm>
            <a:off x="2880360" y="1984248"/>
            <a:ext cx="8458200" cy="530352"/>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The value 5 is loaded into the A Register.</a:t>
            </a:r>
          </a:p>
        </p:txBody>
      </p:sp>
      <p:sp>
        <p:nvSpPr>
          <p:cNvPr id="10" name="TextBox 9"/>
          <p:cNvSpPr txBox="1"/>
          <p:nvPr/>
        </p:nvSpPr>
        <p:spPr>
          <a:xfrm>
            <a:off x="731520" y="2734056"/>
            <a:ext cx="2240280" cy="310896"/>
          </a:xfrm>
          <a:prstGeom prst="rect">
            <a:avLst/>
          </a:prstGeom>
          <a:noFill/>
        </p:spPr>
        <p:txBody>
          <a:bodyPr wrap="square" lIns="27432" tIns="18288" rIns="27432" bIns="18288">
            <a:spAutoFit/>
          </a:bodyPr>
          <a:lstStyle/>
          <a:p>
            <a:pPr>
              <a:spcAft>
                <a:spcPts val="600"/>
              </a:spcAft>
              <a:defRPr sz="1500" b="1">
                <a:solidFill>
                  <a:srgbClr val="1C2D44"/>
                </a:solidFill>
                <a:latin typeface="Arial"/>
              </a:defRPr>
            </a:pPr>
            <a:r>
              <a:t>Step 3 — Load B</a:t>
            </a:r>
          </a:p>
        </p:txBody>
      </p:sp>
      <p:sp>
        <p:nvSpPr>
          <p:cNvPr id="11" name="TextBox 10"/>
          <p:cNvSpPr txBox="1"/>
          <p:nvPr/>
        </p:nvSpPr>
        <p:spPr>
          <a:xfrm>
            <a:off x="2880360" y="2734056"/>
            <a:ext cx="8458200" cy="530352"/>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The value 3 is loaded into the B Register.</a:t>
            </a:r>
          </a:p>
        </p:txBody>
      </p:sp>
      <p:sp>
        <p:nvSpPr>
          <p:cNvPr id="12" name="TextBox 11"/>
          <p:cNvSpPr txBox="1"/>
          <p:nvPr/>
        </p:nvSpPr>
        <p:spPr>
          <a:xfrm>
            <a:off x="731520" y="3483864"/>
            <a:ext cx="2240280" cy="310896"/>
          </a:xfrm>
          <a:prstGeom prst="rect">
            <a:avLst/>
          </a:prstGeom>
          <a:noFill/>
        </p:spPr>
        <p:txBody>
          <a:bodyPr wrap="square" lIns="27432" tIns="18288" rIns="27432" bIns="18288">
            <a:spAutoFit/>
          </a:bodyPr>
          <a:lstStyle/>
          <a:p>
            <a:pPr>
              <a:spcAft>
                <a:spcPts val="600"/>
              </a:spcAft>
              <a:defRPr sz="1500" b="1">
                <a:solidFill>
                  <a:srgbClr val="1C2D44"/>
                </a:solidFill>
                <a:latin typeface="Arial"/>
              </a:defRPr>
            </a:pPr>
            <a:r>
              <a:t>Step 4 — Execute</a:t>
            </a:r>
          </a:p>
        </p:txBody>
      </p:sp>
      <p:sp>
        <p:nvSpPr>
          <p:cNvPr id="13" name="TextBox 12"/>
          <p:cNvSpPr txBox="1"/>
          <p:nvPr/>
        </p:nvSpPr>
        <p:spPr>
          <a:xfrm>
            <a:off x="2880360" y="3483864"/>
            <a:ext cx="8458200" cy="530352"/>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The ALU is set to addition and calculates 5 + 3 = 8.</a:t>
            </a:r>
          </a:p>
        </p:txBody>
      </p:sp>
      <p:sp>
        <p:nvSpPr>
          <p:cNvPr id="14" name="TextBox 13"/>
          <p:cNvSpPr txBox="1"/>
          <p:nvPr/>
        </p:nvSpPr>
        <p:spPr>
          <a:xfrm>
            <a:off x="731520" y="4233672"/>
            <a:ext cx="2240280" cy="310896"/>
          </a:xfrm>
          <a:prstGeom prst="rect">
            <a:avLst/>
          </a:prstGeom>
          <a:noFill/>
        </p:spPr>
        <p:txBody>
          <a:bodyPr wrap="square" lIns="27432" tIns="18288" rIns="27432" bIns="18288">
            <a:spAutoFit/>
          </a:bodyPr>
          <a:lstStyle/>
          <a:p>
            <a:pPr>
              <a:spcAft>
                <a:spcPts val="600"/>
              </a:spcAft>
              <a:defRPr sz="1500" b="1">
                <a:solidFill>
                  <a:srgbClr val="1C2D44"/>
                </a:solidFill>
                <a:latin typeface="Arial"/>
              </a:defRPr>
            </a:pPr>
            <a:r>
              <a:t>Step 5 — Store result</a:t>
            </a:r>
          </a:p>
        </p:txBody>
      </p:sp>
      <p:sp>
        <p:nvSpPr>
          <p:cNvPr id="15" name="TextBox 14"/>
          <p:cNvSpPr txBox="1"/>
          <p:nvPr/>
        </p:nvSpPr>
        <p:spPr>
          <a:xfrm>
            <a:off x="2880360" y="4233672"/>
            <a:ext cx="8458200" cy="530352"/>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The result is transferred through the bus to the selected destination.</a:t>
            </a:r>
          </a:p>
        </p:txBody>
      </p:sp>
      <p:sp>
        <p:nvSpPr>
          <p:cNvPr id="16" name="TextBox 15"/>
          <p:cNvSpPr txBox="1"/>
          <p:nvPr/>
        </p:nvSpPr>
        <p:spPr>
          <a:xfrm>
            <a:off x="731520" y="4983479"/>
            <a:ext cx="2240280" cy="310896"/>
          </a:xfrm>
          <a:prstGeom prst="rect">
            <a:avLst/>
          </a:prstGeom>
          <a:noFill/>
        </p:spPr>
        <p:txBody>
          <a:bodyPr wrap="square" lIns="27432" tIns="18288" rIns="27432" bIns="18288">
            <a:spAutoFit/>
          </a:bodyPr>
          <a:lstStyle/>
          <a:p>
            <a:pPr>
              <a:spcAft>
                <a:spcPts val="600"/>
              </a:spcAft>
              <a:defRPr sz="1500" b="1">
                <a:solidFill>
                  <a:srgbClr val="1C2D44"/>
                </a:solidFill>
                <a:latin typeface="Arial"/>
              </a:defRPr>
            </a:pPr>
            <a:r>
              <a:t>Step 6 — Display</a:t>
            </a:r>
          </a:p>
        </p:txBody>
      </p:sp>
      <p:sp>
        <p:nvSpPr>
          <p:cNvPr id="17" name="TextBox 16"/>
          <p:cNvSpPr txBox="1"/>
          <p:nvPr/>
        </p:nvSpPr>
        <p:spPr>
          <a:xfrm>
            <a:off x="2880360" y="4983479"/>
            <a:ext cx="8458200" cy="530352"/>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t>For an output instruction, the result is loaded into the OUT Register and shown as 8.</a:t>
            </a:r>
          </a:p>
        </p:txBody>
      </p:sp>
      <p:sp>
        <p:nvSpPr>
          <p:cNvPr id="18" name="TextBox 17"/>
          <p:cNvSpPr txBox="1"/>
          <p:nvPr/>
        </p:nvSpPr>
        <p:spPr>
          <a:xfrm>
            <a:off x="685800" y="5643158"/>
            <a:ext cx="10607040" cy="652486"/>
          </a:xfrm>
          <a:prstGeom prst="rect">
            <a:avLst/>
          </a:prstGeom>
          <a:noFill/>
        </p:spPr>
        <p:txBody>
          <a:bodyPr wrap="square" lIns="27432" tIns="18288" rIns="27432" bIns="18288">
            <a:spAutoFit/>
          </a:bodyPr>
          <a:lstStyle/>
          <a:p>
            <a:pPr>
              <a:spcAft>
                <a:spcPts val="600"/>
              </a:spcAft>
              <a:defRPr sz="1100" b="0">
                <a:solidFill>
                  <a:srgbClr val="5F6670"/>
                </a:solidFill>
                <a:latin typeface="Arial"/>
              </a:defRPr>
            </a:pPr>
            <a:r>
              <a:rPr sz="2000" dirty="0">
                <a:solidFill>
                  <a:schemeClr val="accent4">
                    <a:lumMod val="75000"/>
                  </a:schemeClr>
                </a:solidFill>
              </a:rPr>
              <a:t>This example explains the data movement concept; actual control steps depend on the implemented instruction set</a:t>
            </a:r>
            <a:r>
              <a:rPr dirty="0">
                <a:solidFill>
                  <a:schemeClr val="accent4">
                    <a:lumMod val="75000"/>
                  </a:schemeClr>
                </a:solidFill>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B4D955-AEE5-44A0-BAAC-CC3683A17F3F}"/>
              </a:ext>
            </a:extLst>
          </p:cNvPr>
          <p:cNvSpPr txBox="1"/>
          <p:nvPr/>
        </p:nvSpPr>
        <p:spPr>
          <a:xfrm>
            <a:off x="502920" y="25603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lang="en-US" dirty="0">
                <a:highlight>
                  <a:srgbClr val="FFFF00"/>
                </a:highlight>
              </a:rPr>
              <a:t>13.Cycle</a:t>
            </a:r>
            <a:endParaRPr dirty="0">
              <a:highlight>
                <a:srgbClr val="FFFF00"/>
              </a:highlight>
            </a:endParaRPr>
          </a:p>
        </p:txBody>
      </p:sp>
      <p:sp>
        <p:nvSpPr>
          <p:cNvPr id="5" name="TextBox 4">
            <a:extLst>
              <a:ext uri="{FF2B5EF4-FFF2-40B4-BE49-F238E27FC236}">
                <a16:creationId xmlns:a16="http://schemas.microsoft.com/office/drawing/2014/main" id="{A03976C8-F29C-5148-4FDD-EB0492B26B39}"/>
              </a:ext>
            </a:extLst>
          </p:cNvPr>
          <p:cNvSpPr txBox="1"/>
          <p:nvPr/>
        </p:nvSpPr>
        <p:spPr>
          <a:xfrm>
            <a:off x="659990" y="1350128"/>
            <a:ext cx="9722875" cy="400110"/>
          </a:xfrm>
          <a:prstGeom prst="rect">
            <a:avLst/>
          </a:prstGeom>
          <a:noFill/>
        </p:spPr>
        <p:txBody>
          <a:bodyPr wrap="square">
            <a:spAutoFit/>
          </a:bodyPr>
          <a:lstStyle/>
          <a:p>
            <a:pPr>
              <a:spcAft>
                <a:spcPts val="600"/>
              </a:spcAft>
              <a:defRPr sz="1500" b="1">
                <a:solidFill>
                  <a:srgbClr val="1C2D44"/>
                </a:solidFill>
                <a:latin typeface="Arial"/>
              </a:defRPr>
            </a:pPr>
            <a:r>
              <a:rPr lang="en-IN" sz="2000" dirty="0"/>
              <a:t>1. T Cycle </a:t>
            </a:r>
            <a:r>
              <a:rPr lang="en-US" sz="2000" dirty="0"/>
              <a:t>(Timing Cycle):</a:t>
            </a:r>
            <a:endParaRPr lang="en-IN" sz="2000" dirty="0"/>
          </a:p>
        </p:txBody>
      </p:sp>
      <p:sp>
        <p:nvSpPr>
          <p:cNvPr id="11" name="TextBox 10">
            <a:extLst>
              <a:ext uri="{FF2B5EF4-FFF2-40B4-BE49-F238E27FC236}">
                <a16:creationId xmlns:a16="http://schemas.microsoft.com/office/drawing/2014/main" id="{C5A52318-29E2-EC3E-88ED-5B1FE4ABA37A}"/>
              </a:ext>
            </a:extLst>
          </p:cNvPr>
          <p:cNvSpPr txBox="1"/>
          <p:nvPr/>
        </p:nvSpPr>
        <p:spPr>
          <a:xfrm>
            <a:off x="659991" y="4135485"/>
            <a:ext cx="6098458" cy="400110"/>
          </a:xfrm>
          <a:prstGeom prst="rect">
            <a:avLst/>
          </a:prstGeom>
          <a:noFill/>
        </p:spPr>
        <p:txBody>
          <a:bodyPr wrap="square">
            <a:spAutoFit/>
          </a:bodyPr>
          <a:lstStyle/>
          <a:p>
            <a:pPr>
              <a:spcAft>
                <a:spcPts val="600"/>
              </a:spcAft>
              <a:defRPr sz="1500" b="1">
                <a:solidFill>
                  <a:srgbClr val="1C2D44"/>
                </a:solidFill>
                <a:latin typeface="Arial"/>
              </a:defRPr>
            </a:pPr>
            <a:r>
              <a:rPr lang="en-IN" sz="2000" dirty="0"/>
              <a:t>4.  Clock Cycle</a:t>
            </a:r>
            <a:r>
              <a:rPr lang="en-IN" sz="1500" dirty="0"/>
              <a:t>:</a:t>
            </a:r>
          </a:p>
        </p:txBody>
      </p:sp>
      <p:sp>
        <p:nvSpPr>
          <p:cNvPr id="13" name="TextBox 12">
            <a:extLst>
              <a:ext uri="{FF2B5EF4-FFF2-40B4-BE49-F238E27FC236}">
                <a16:creationId xmlns:a16="http://schemas.microsoft.com/office/drawing/2014/main" id="{7492EAF3-2C16-4052-63FE-D3738F3EC150}"/>
              </a:ext>
            </a:extLst>
          </p:cNvPr>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rPr dirty="0"/>
              <a:t>TEAM SYNTHORA  |  RISK V MACKATHON  |  8-BIT COMPUTER ARCHITECTURE</a:t>
            </a:r>
          </a:p>
        </p:txBody>
      </p:sp>
      <p:sp>
        <p:nvSpPr>
          <p:cNvPr id="15" name="TextBox 14">
            <a:extLst>
              <a:ext uri="{FF2B5EF4-FFF2-40B4-BE49-F238E27FC236}">
                <a16:creationId xmlns:a16="http://schemas.microsoft.com/office/drawing/2014/main" id="{A02266CF-8F01-8BF5-AA8E-48D35A9E550F}"/>
              </a:ext>
            </a:extLst>
          </p:cNvPr>
          <p:cNvSpPr txBox="1"/>
          <p:nvPr/>
        </p:nvSpPr>
        <p:spPr>
          <a:xfrm>
            <a:off x="659990" y="2248320"/>
            <a:ext cx="6098458" cy="400110"/>
          </a:xfrm>
          <a:prstGeom prst="rect">
            <a:avLst/>
          </a:prstGeom>
          <a:noFill/>
        </p:spPr>
        <p:txBody>
          <a:bodyPr wrap="square">
            <a:spAutoFit/>
          </a:bodyPr>
          <a:lstStyle/>
          <a:p>
            <a:r>
              <a:rPr lang="en-US" sz="2000" b="1" dirty="0"/>
              <a:t>2.  Machine Cycle:</a:t>
            </a:r>
            <a:endParaRPr lang="en-IN" sz="2000" b="1" dirty="0"/>
          </a:p>
        </p:txBody>
      </p:sp>
      <p:sp>
        <p:nvSpPr>
          <p:cNvPr id="17" name="TextBox 16">
            <a:extLst>
              <a:ext uri="{FF2B5EF4-FFF2-40B4-BE49-F238E27FC236}">
                <a16:creationId xmlns:a16="http://schemas.microsoft.com/office/drawing/2014/main" id="{54F35ABB-00DE-AF0A-94BE-ED8C97251437}"/>
              </a:ext>
            </a:extLst>
          </p:cNvPr>
          <p:cNvSpPr txBox="1"/>
          <p:nvPr/>
        </p:nvSpPr>
        <p:spPr>
          <a:xfrm>
            <a:off x="659991" y="3150998"/>
            <a:ext cx="6098458" cy="400110"/>
          </a:xfrm>
          <a:prstGeom prst="rect">
            <a:avLst/>
          </a:prstGeom>
          <a:noFill/>
        </p:spPr>
        <p:txBody>
          <a:bodyPr wrap="square">
            <a:spAutoFit/>
          </a:bodyPr>
          <a:lstStyle/>
          <a:p>
            <a:r>
              <a:rPr lang="en-IN" sz="2000" b="1" dirty="0"/>
              <a:t>3.  Instruction Cycle:</a:t>
            </a:r>
          </a:p>
        </p:txBody>
      </p:sp>
      <p:sp>
        <p:nvSpPr>
          <p:cNvPr id="21" name="TextBox 20">
            <a:extLst>
              <a:ext uri="{FF2B5EF4-FFF2-40B4-BE49-F238E27FC236}">
                <a16:creationId xmlns:a16="http://schemas.microsoft.com/office/drawing/2014/main" id="{A42D9361-639A-E9F1-6492-974B0A3A8A27}"/>
              </a:ext>
            </a:extLst>
          </p:cNvPr>
          <p:cNvSpPr txBox="1"/>
          <p:nvPr/>
        </p:nvSpPr>
        <p:spPr>
          <a:xfrm>
            <a:off x="3880301" y="1439062"/>
            <a:ext cx="7977402" cy="283154"/>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rPr lang="en-US" sz="1600" dirty="0"/>
              <a:t>One clock period; the smallest timing unit in the processor.</a:t>
            </a:r>
            <a:endParaRPr sz="1600" dirty="0"/>
          </a:p>
        </p:txBody>
      </p:sp>
      <p:sp>
        <p:nvSpPr>
          <p:cNvPr id="23" name="TextBox 22">
            <a:extLst>
              <a:ext uri="{FF2B5EF4-FFF2-40B4-BE49-F238E27FC236}">
                <a16:creationId xmlns:a16="http://schemas.microsoft.com/office/drawing/2014/main" id="{56929407-6EAC-2D23-CE83-3637CF452815}"/>
              </a:ext>
            </a:extLst>
          </p:cNvPr>
          <p:cNvSpPr txBox="1"/>
          <p:nvPr/>
        </p:nvSpPr>
        <p:spPr>
          <a:xfrm>
            <a:off x="2759423" y="2312020"/>
            <a:ext cx="9098280" cy="283154"/>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rPr lang="en-US" sz="1600" dirty="0"/>
              <a:t>One basic operation, such as memory read or write. It consists of multiple T cycles</a:t>
            </a:r>
            <a:r>
              <a:rPr lang="en-US" dirty="0"/>
              <a:t>.</a:t>
            </a:r>
            <a:endParaRPr dirty="0"/>
          </a:p>
        </p:txBody>
      </p:sp>
      <p:sp>
        <p:nvSpPr>
          <p:cNvPr id="25" name="TextBox 24">
            <a:extLst>
              <a:ext uri="{FF2B5EF4-FFF2-40B4-BE49-F238E27FC236}">
                <a16:creationId xmlns:a16="http://schemas.microsoft.com/office/drawing/2014/main" id="{DBB5C769-4E18-6704-0262-F562BACDFB74}"/>
              </a:ext>
            </a:extLst>
          </p:cNvPr>
          <p:cNvSpPr txBox="1"/>
          <p:nvPr/>
        </p:nvSpPr>
        <p:spPr>
          <a:xfrm>
            <a:off x="2965901" y="3227407"/>
            <a:ext cx="9098280" cy="283154"/>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rPr lang="en-US" sz="1600" dirty="0"/>
              <a:t>One complete instruction execution process — Fetch → Decode → Execute</a:t>
            </a:r>
            <a:r>
              <a:rPr lang="en-US" dirty="0"/>
              <a:t>.</a:t>
            </a:r>
            <a:endParaRPr dirty="0"/>
          </a:p>
        </p:txBody>
      </p:sp>
      <p:sp>
        <p:nvSpPr>
          <p:cNvPr id="27" name="TextBox 26">
            <a:extLst>
              <a:ext uri="{FF2B5EF4-FFF2-40B4-BE49-F238E27FC236}">
                <a16:creationId xmlns:a16="http://schemas.microsoft.com/office/drawing/2014/main" id="{DE3A4BC0-C1D0-A4F4-E5FE-894D4FFE1660}"/>
              </a:ext>
            </a:extLst>
          </p:cNvPr>
          <p:cNvSpPr txBox="1"/>
          <p:nvPr/>
        </p:nvSpPr>
        <p:spPr>
          <a:xfrm>
            <a:off x="2759423" y="4219706"/>
            <a:ext cx="9098280" cy="283154"/>
          </a:xfrm>
          <a:prstGeom prst="rect">
            <a:avLst/>
          </a:prstGeom>
          <a:noFill/>
        </p:spPr>
        <p:txBody>
          <a:bodyPr wrap="square" lIns="27432" tIns="18288" rIns="27432" bIns="18288">
            <a:spAutoFit/>
          </a:bodyPr>
          <a:lstStyle/>
          <a:p>
            <a:pPr>
              <a:spcAft>
                <a:spcPts val="600"/>
              </a:spcAft>
              <a:defRPr sz="1400" b="0">
                <a:solidFill>
                  <a:srgbClr val="202328"/>
                </a:solidFill>
                <a:latin typeface="Arial"/>
              </a:defRPr>
            </a:pPr>
            <a:r>
              <a:rPr lang="en-US" sz="1600" dirty="0"/>
              <a:t>One complete clock period, which synchronizes processor operations</a:t>
            </a:r>
            <a:r>
              <a:rPr dirty="0"/>
              <a:t>.</a:t>
            </a:r>
          </a:p>
        </p:txBody>
      </p:sp>
      <p:sp>
        <p:nvSpPr>
          <p:cNvPr id="29" name="TextBox 28">
            <a:extLst>
              <a:ext uri="{FF2B5EF4-FFF2-40B4-BE49-F238E27FC236}">
                <a16:creationId xmlns:a16="http://schemas.microsoft.com/office/drawing/2014/main" id="{CE946011-045D-BD8E-ACE0-FFB383CC0E53}"/>
              </a:ext>
            </a:extLst>
          </p:cNvPr>
          <p:cNvSpPr txBox="1"/>
          <p:nvPr/>
        </p:nvSpPr>
        <p:spPr>
          <a:xfrm>
            <a:off x="586248" y="5244740"/>
            <a:ext cx="10205884" cy="707886"/>
          </a:xfrm>
          <a:prstGeom prst="rect">
            <a:avLst/>
          </a:prstGeom>
          <a:noFill/>
        </p:spPr>
        <p:txBody>
          <a:bodyPr wrap="square">
            <a:spAutoFit/>
          </a:bodyPr>
          <a:lstStyle/>
          <a:p>
            <a:r>
              <a:rPr lang="en-US" sz="2000" dirty="0">
                <a:solidFill>
                  <a:schemeClr val="accent4">
                    <a:lumMod val="75000"/>
                  </a:schemeClr>
                </a:solidFill>
              </a:rPr>
              <a:t>Important: Basic 8085 terminology-la, one T-state is one clock period. Multiple T-states make a machine cycle; one instruction cycle may contain multiple machine cycles</a:t>
            </a:r>
            <a:r>
              <a:rPr lang="en-US" sz="2000" dirty="0">
                <a:solidFill>
                  <a:schemeClr val="accent2">
                    <a:lumMod val="60000"/>
                    <a:lumOff val="40000"/>
                  </a:schemeClr>
                </a:solidFill>
              </a:rPr>
              <a:t>.</a:t>
            </a:r>
            <a:endParaRPr lang="en-IN" sz="2000" dirty="0">
              <a:solidFill>
                <a:schemeClr val="accent2">
                  <a:lumMod val="60000"/>
                  <a:lumOff val="40000"/>
                </a:schemeClr>
              </a:solidFill>
            </a:endParaRPr>
          </a:p>
        </p:txBody>
      </p:sp>
    </p:spTree>
    <p:extLst>
      <p:ext uri="{BB962C8B-B14F-4D97-AF65-F5344CB8AC3E}">
        <p14:creationId xmlns:p14="http://schemas.microsoft.com/office/powerpoint/2010/main" val="3492164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064240" cy="437043"/>
          </a:xfrm>
          <a:prstGeom prst="rect">
            <a:avLst/>
          </a:prstGeom>
          <a:noFill/>
        </p:spPr>
        <p:txBody>
          <a:bodyPr wrap="square" lIns="27432" tIns="18288" rIns="27432" bIns="18288">
            <a:spAutoFit/>
          </a:bodyPr>
          <a:lstStyle/>
          <a:p>
            <a:pPr>
              <a:spcAft>
                <a:spcPts val="600"/>
              </a:spcAft>
              <a:defRPr sz="2600" b="1">
                <a:solidFill>
                  <a:srgbClr val="1C2D44"/>
                </a:solidFill>
                <a:latin typeface="Arial"/>
              </a:defRPr>
            </a:pPr>
            <a:r>
              <a:rPr dirty="0">
                <a:highlight>
                  <a:srgbClr val="FFFF00"/>
                </a:highlight>
              </a:rPr>
              <a:t>1</a:t>
            </a:r>
            <a:r>
              <a:rPr lang="en-US" dirty="0">
                <a:highlight>
                  <a:srgbClr val="FFFF00"/>
                </a:highlight>
              </a:rPr>
              <a:t>4</a:t>
            </a:r>
            <a:r>
              <a:rPr dirty="0">
                <a:highlight>
                  <a:srgbClr val="FFFF00"/>
                </a:highlight>
              </a:rPr>
              <a:t>. OUT Register and 7-Segment Display</a:t>
            </a:r>
          </a:p>
        </p:txBody>
      </p:sp>
      <p:sp>
        <p:nvSpPr>
          <p:cNvPr id="4" name="TextBox 3"/>
          <p:cNvSpPr txBox="1"/>
          <p:nvPr/>
        </p:nvSpPr>
        <p:spPr>
          <a:xfrm>
            <a:off x="502920" y="6473952"/>
            <a:ext cx="10698480" cy="182880"/>
          </a:xfrm>
          <a:prstGeom prst="rect">
            <a:avLst/>
          </a:prstGeom>
          <a:noFill/>
        </p:spPr>
        <p:txBody>
          <a:bodyPr wrap="square" lIns="27432" tIns="18288" rIns="27432" bIns="18288">
            <a:spAutoFit/>
          </a:bodyPr>
          <a:lstStyle/>
          <a:p>
            <a:pPr>
              <a:spcAft>
                <a:spcPts val="600"/>
              </a:spcAft>
              <a:defRPr sz="800" b="0">
                <a:solidFill>
                  <a:srgbClr val="5F6670"/>
                </a:solidFill>
                <a:latin typeface="Arial"/>
              </a:defRPr>
            </a:pPr>
            <a:r>
              <a:t>TEAM SYNTHORA  |  RISK V MACKATHON  |  8-BIT COMPUTER ARCHITECTURE</a:t>
            </a:r>
          </a:p>
        </p:txBody>
      </p:sp>
      <p:sp>
        <p:nvSpPr>
          <p:cNvPr id="5" name="TextBox 4"/>
          <p:cNvSpPr txBox="1"/>
          <p:nvPr/>
        </p:nvSpPr>
        <p:spPr>
          <a:xfrm>
            <a:off x="11292840" y="6473952"/>
            <a:ext cx="320040" cy="182880"/>
          </a:xfrm>
          <a:prstGeom prst="rect">
            <a:avLst/>
          </a:prstGeom>
          <a:noFill/>
        </p:spPr>
        <p:txBody>
          <a:bodyPr wrap="square" lIns="27432" tIns="18288" rIns="27432" bIns="18288">
            <a:spAutoFit/>
          </a:bodyPr>
          <a:lstStyle/>
          <a:p>
            <a:pPr algn="r">
              <a:spcAft>
                <a:spcPts val="600"/>
              </a:spcAft>
              <a:defRPr sz="800" b="0">
                <a:solidFill>
                  <a:srgbClr val="5F6670"/>
                </a:solidFill>
                <a:latin typeface="Arial"/>
              </a:defRPr>
            </a:pPr>
            <a:r>
              <a:t>14</a:t>
            </a:r>
          </a:p>
        </p:txBody>
      </p:sp>
      <p:sp>
        <p:nvSpPr>
          <p:cNvPr id="6" name="TextBox 5"/>
          <p:cNvSpPr txBox="1"/>
          <p:nvPr/>
        </p:nvSpPr>
        <p:spPr>
          <a:xfrm>
            <a:off x="731520" y="1371600"/>
            <a:ext cx="512064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OUT Register</a:t>
            </a:r>
          </a:p>
        </p:txBody>
      </p:sp>
      <p:sp>
        <p:nvSpPr>
          <p:cNvPr id="7" name="TextBox 6"/>
          <p:cNvSpPr txBox="1"/>
          <p:nvPr/>
        </p:nvSpPr>
        <p:spPr>
          <a:xfrm>
            <a:off x="731520" y="1719072"/>
            <a:ext cx="5120640" cy="868680"/>
          </a:xfrm>
          <a:prstGeom prst="rect">
            <a:avLst/>
          </a:prstGeom>
          <a:noFill/>
        </p:spPr>
        <p:txBody>
          <a:bodyPr wrap="square" lIns="27432" tIns="18288" rIns="27432" bIns="18288">
            <a:spAutoFit/>
          </a:bodyPr>
          <a:lstStyle/>
          <a:p>
            <a:pPr>
              <a:spcAft>
                <a:spcPts val="600"/>
              </a:spcAft>
              <a:defRPr sz="1500" b="0">
                <a:solidFill>
                  <a:srgbClr val="202328"/>
                </a:solidFill>
                <a:latin typeface="Arial"/>
              </a:defRPr>
            </a:pPr>
            <a:r>
              <a:t>Receives and temporarily stores the value selected for output. This prevents the displayed value from needing to be taken directly from every internal block.</a:t>
            </a:r>
          </a:p>
        </p:txBody>
      </p:sp>
      <p:sp>
        <p:nvSpPr>
          <p:cNvPr id="8" name="TextBox 7"/>
          <p:cNvSpPr txBox="1"/>
          <p:nvPr/>
        </p:nvSpPr>
        <p:spPr>
          <a:xfrm>
            <a:off x="6217920" y="1371600"/>
            <a:ext cx="5120640" cy="292608"/>
          </a:xfrm>
          <a:prstGeom prst="rect">
            <a:avLst/>
          </a:prstGeom>
          <a:noFill/>
        </p:spPr>
        <p:txBody>
          <a:bodyPr wrap="square" lIns="27432" tIns="18288" rIns="27432" bIns="18288">
            <a:spAutoFit/>
          </a:bodyPr>
          <a:lstStyle/>
          <a:p>
            <a:pPr>
              <a:spcAft>
                <a:spcPts val="600"/>
              </a:spcAft>
              <a:defRPr sz="1700" b="1">
                <a:solidFill>
                  <a:srgbClr val="1C2D44"/>
                </a:solidFill>
                <a:latin typeface="Arial"/>
              </a:defRPr>
            </a:pPr>
            <a:r>
              <a:t>7-Segment Display</a:t>
            </a:r>
          </a:p>
        </p:txBody>
      </p:sp>
      <p:sp>
        <p:nvSpPr>
          <p:cNvPr id="9" name="TextBox 8"/>
          <p:cNvSpPr txBox="1"/>
          <p:nvPr/>
        </p:nvSpPr>
        <p:spPr>
          <a:xfrm>
            <a:off x="6217920" y="1719072"/>
            <a:ext cx="5120640" cy="868680"/>
          </a:xfrm>
          <a:prstGeom prst="rect">
            <a:avLst/>
          </a:prstGeom>
          <a:noFill/>
        </p:spPr>
        <p:txBody>
          <a:bodyPr wrap="square" lIns="27432" tIns="18288" rIns="27432" bIns="18288">
            <a:spAutoFit/>
          </a:bodyPr>
          <a:lstStyle/>
          <a:p>
            <a:pPr>
              <a:spcAft>
                <a:spcPts val="600"/>
              </a:spcAft>
              <a:defRPr sz="1500" b="0">
                <a:solidFill>
                  <a:srgbClr val="202328"/>
                </a:solidFill>
                <a:latin typeface="Arial"/>
              </a:defRPr>
            </a:pPr>
            <a:r>
              <a:t>Uses seven LED segments to show digits and some symbols. Decoder/driver logic converts the output value into the segment pattern.</a:t>
            </a:r>
          </a:p>
        </p:txBody>
      </p:sp>
      <p:sp>
        <p:nvSpPr>
          <p:cNvPr id="10" name="TextBox 9"/>
          <p:cNvSpPr txBox="1"/>
          <p:nvPr/>
        </p:nvSpPr>
        <p:spPr>
          <a:xfrm>
            <a:off x="731520" y="3520440"/>
            <a:ext cx="10515600" cy="365760"/>
          </a:xfrm>
          <a:prstGeom prst="rect">
            <a:avLst/>
          </a:prstGeom>
          <a:noFill/>
        </p:spPr>
        <p:txBody>
          <a:bodyPr wrap="square" lIns="27432" tIns="18288" rIns="27432" bIns="18288">
            <a:spAutoFit/>
          </a:bodyPr>
          <a:lstStyle/>
          <a:p>
            <a:pPr>
              <a:spcAft>
                <a:spcPts val="600"/>
              </a:spcAft>
              <a:defRPr sz="1800" b="1">
                <a:solidFill>
                  <a:srgbClr val="1C2D44"/>
                </a:solidFill>
                <a:latin typeface="Arial"/>
              </a:defRPr>
            </a:pPr>
            <a:r>
              <a:t>Output path</a:t>
            </a:r>
          </a:p>
        </p:txBody>
      </p:sp>
      <p:sp>
        <p:nvSpPr>
          <p:cNvPr id="11" name="TextBox 10"/>
          <p:cNvSpPr txBox="1"/>
          <p:nvPr/>
        </p:nvSpPr>
        <p:spPr>
          <a:xfrm>
            <a:off x="731520" y="4023360"/>
            <a:ext cx="10515600" cy="594360"/>
          </a:xfrm>
          <a:prstGeom prst="rect">
            <a:avLst/>
          </a:prstGeom>
          <a:noFill/>
        </p:spPr>
        <p:txBody>
          <a:bodyPr wrap="square" lIns="27432" tIns="18288" rIns="27432" bIns="18288">
            <a:spAutoFit/>
          </a:bodyPr>
          <a:lstStyle/>
          <a:p>
            <a:pPr>
              <a:spcAft>
                <a:spcPts val="600"/>
              </a:spcAft>
              <a:defRPr sz="1700" b="1">
                <a:solidFill>
                  <a:srgbClr val="288791"/>
                </a:solidFill>
                <a:latin typeface="Arial"/>
              </a:defRPr>
            </a:pPr>
            <a:r>
              <a:t>BUS / selected result → OUT Register → display decoding/driver → 7-segment display</a:t>
            </a:r>
          </a:p>
        </p:txBody>
      </p:sp>
      <p:sp>
        <p:nvSpPr>
          <p:cNvPr id="12" name="TextBox 11"/>
          <p:cNvSpPr txBox="1"/>
          <p:nvPr/>
        </p:nvSpPr>
        <p:spPr>
          <a:xfrm>
            <a:off x="731520" y="5074920"/>
            <a:ext cx="10515600" cy="652486"/>
          </a:xfrm>
          <a:prstGeom prst="rect">
            <a:avLst/>
          </a:prstGeom>
          <a:noFill/>
        </p:spPr>
        <p:txBody>
          <a:bodyPr wrap="square" lIns="27432" tIns="18288" rIns="27432" bIns="18288">
            <a:spAutoFit/>
          </a:bodyPr>
          <a:lstStyle/>
          <a:p>
            <a:pPr>
              <a:spcAft>
                <a:spcPts val="600"/>
              </a:spcAft>
              <a:defRPr sz="1500" b="0">
                <a:solidFill>
                  <a:srgbClr val="202328"/>
                </a:solidFill>
                <a:latin typeface="Arial"/>
              </a:defRPr>
            </a:pPr>
            <a:r>
              <a:rPr sz="2000" dirty="0">
                <a:solidFill>
                  <a:schemeClr val="accent4">
                    <a:lumMod val="75000"/>
                  </a:schemeClr>
                </a:solidFill>
              </a:rPr>
              <a:t>The exact display circuit determines whether the value is shown in decimal, hexadecimal or another format</a:t>
            </a:r>
            <a:r>
              <a:rPr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578430"/>
            <a:ext cx="10789920" cy="467820"/>
          </a:xfrm>
          <a:prstGeom prst="rect">
            <a:avLst/>
          </a:prstGeom>
          <a:noFill/>
        </p:spPr>
        <p:txBody>
          <a:bodyPr wrap="square" lIns="27432" tIns="18288" rIns="27432" bIns="18288">
            <a:spAutoFit/>
          </a:bodyPr>
          <a:lstStyle/>
          <a:p>
            <a:pPr>
              <a:spcAft>
                <a:spcPts val="600"/>
              </a:spcAft>
              <a:defRPr sz="2800" b="1">
                <a:solidFill>
                  <a:srgbClr val="FFFFFF"/>
                </a:solidFill>
                <a:latin typeface="Arial"/>
              </a:defRPr>
            </a:pPr>
            <a:r>
              <a:rPr dirty="0">
                <a:solidFill>
                  <a:schemeClr val="bg2">
                    <a:lumMod val="25000"/>
                  </a:schemeClr>
                </a:solidFill>
                <a:highlight>
                  <a:srgbClr val="FFFF00"/>
                </a:highlight>
              </a:rPr>
              <a:t>1</a:t>
            </a:r>
            <a:r>
              <a:rPr lang="en-US" dirty="0">
                <a:solidFill>
                  <a:schemeClr val="bg2">
                    <a:lumMod val="25000"/>
                  </a:schemeClr>
                </a:solidFill>
                <a:highlight>
                  <a:srgbClr val="FFFF00"/>
                </a:highlight>
              </a:rPr>
              <a:t>5</a:t>
            </a:r>
            <a:r>
              <a:rPr dirty="0">
                <a:solidFill>
                  <a:schemeClr val="bg2">
                    <a:lumMod val="25000"/>
                  </a:schemeClr>
                </a:solidFill>
                <a:highlight>
                  <a:srgbClr val="FFFF00"/>
                </a:highlight>
              </a:rPr>
              <a:t>. Summary and Conclusion</a:t>
            </a:r>
          </a:p>
        </p:txBody>
      </p:sp>
      <p:sp>
        <p:nvSpPr>
          <p:cNvPr id="3" name="TextBox 2"/>
          <p:cNvSpPr txBox="1"/>
          <p:nvPr/>
        </p:nvSpPr>
        <p:spPr>
          <a:xfrm>
            <a:off x="822960" y="1417320"/>
            <a:ext cx="10515600" cy="2329869"/>
          </a:xfrm>
          <a:prstGeom prst="rect">
            <a:avLst/>
          </a:prstGeom>
          <a:noFill/>
        </p:spPr>
        <p:txBody>
          <a:bodyPr wrap="square" lIns="27432" tIns="18288" rIns="27432" bIns="18288">
            <a:spAutoFit/>
          </a:bodyPr>
          <a:lstStyle/>
          <a:p>
            <a:pPr>
              <a:spcAft>
                <a:spcPts val="600"/>
              </a:spcAft>
              <a:defRPr sz="1700" b="0">
                <a:solidFill>
                  <a:srgbClr val="FFFFFF"/>
                </a:solidFill>
                <a:latin typeface="Arial"/>
              </a:defRPr>
            </a:pPr>
            <a:r>
              <a:rPr dirty="0">
                <a:solidFill>
                  <a:schemeClr val="tx1">
                    <a:lumMod val="65000"/>
                    <a:lumOff val="35000"/>
                  </a:schemeClr>
                </a:solidFill>
              </a:rPr>
              <a:t>• The PC and MAR help select the memory location.</a:t>
            </a:r>
          </a:p>
          <a:p>
            <a:pPr>
              <a:spcAft>
                <a:spcPts val="600"/>
              </a:spcAft>
              <a:defRPr sz="1700" b="0">
                <a:solidFill>
                  <a:srgbClr val="FFFFFF"/>
                </a:solidFill>
                <a:latin typeface="Arial"/>
              </a:defRPr>
            </a:pPr>
            <a:r>
              <a:rPr dirty="0">
                <a:solidFill>
                  <a:schemeClr val="tx1">
                    <a:lumMod val="65000"/>
                    <a:lumOff val="35000"/>
                  </a:schemeClr>
                </a:solidFill>
              </a:rPr>
              <a:t>• RAM stores program instructions and data.</a:t>
            </a:r>
          </a:p>
          <a:p>
            <a:pPr>
              <a:spcAft>
                <a:spcPts val="600"/>
              </a:spcAft>
              <a:defRPr sz="1700" b="0">
                <a:solidFill>
                  <a:srgbClr val="FFFFFF"/>
                </a:solidFill>
                <a:latin typeface="Arial"/>
              </a:defRPr>
            </a:pPr>
            <a:r>
              <a:rPr dirty="0">
                <a:solidFill>
                  <a:schemeClr val="tx1">
                    <a:lumMod val="65000"/>
                    <a:lumOff val="35000"/>
                  </a:schemeClr>
                </a:solidFill>
              </a:rPr>
              <a:t>• The IR and decoder identify the instruction and activate control signals.</a:t>
            </a:r>
          </a:p>
          <a:p>
            <a:pPr>
              <a:spcAft>
                <a:spcPts val="600"/>
              </a:spcAft>
              <a:defRPr sz="1700" b="0">
                <a:solidFill>
                  <a:srgbClr val="FFFFFF"/>
                </a:solidFill>
                <a:latin typeface="Arial"/>
              </a:defRPr>
            </a:pPr>
            <a:r>
              <a:rPr dirty="0">
                <a:solidFill>
                  <a:schemeClr val="tx1">
                    <a:lumMod val="65000"/>
                    <a:lumOff val="35000"/>
                  </a:schemeClr>
                </a:solidFill>
              </a:rPr>
              <a:t>• A and B registers hold operands for the ALU.</a:t>
            </a:r>
          </a:p>
          <a:p>
            <a:pPr>
              <a:spcAft>
                <a:spcPts val="600"/>
              </a:spcAft>
              <a:defRPr sz="1700" b="0">
                <a:solidFill>
                  <a:srgbClr val="FFFFFF"/>
                </a:solidFill>
                <a:latin typeface="Arial"/>
              </a:defRPr>
            </a:pPr>
            <a:r>
              <a:rPr dirty="0">
                <a:solidFill>
                  <a:schemeClr val="tx1">
                    <a:lumMod val="65000"/>
                    <a:lumOff val="35000"/>
                  </a:schemeClr>
                </a:solidFill>
              </a:rPr>
              <a:t>• The ALU performs the selected operation and may update the flags.</a:t>
            </a:r>
          </a:p>
          <a:p>
            <a:pPr>
              <a:spcAft>
                <a:spcPts val="600"/>
              </a:spcAft>
              <a:defRPr sz="1700" b="0">
                <a:solidFill>
                  <a:srgbClr val="FFFFFF"/>
                </a:solidFill>
                <a:latin typeface="Arial"/>
              </a:defRPr>
            </a:pPr>
            <a:r>
              <a:rPr dirty="0">
                <a:solidFill>
                  <a:schemeClr val="tx1">
                    <a:lumMod val="65000"/>
                    <a:lumOff val="35000"/>
                  </a:schemeClr>
                </a:solidFill>
              </a:rPr>
              <a:t>• The OUT Register and 7-segment display present the result.</a:t>
            </a:r>
          </a:p>
          <a:p>
            <a:pPr>
              <a:spcAft>
                <a:spcPts val="600"/>
              </a:spcAft>
              <a:defRPr sz="1700" b="0">
                <a:solidFill>
                  <a:srgbClr val="FFFFFF"/>
                </a:solidFill>
                <a:latin typeface="Arial"/>
              </a:defRPr>
            </a:pPr>
            <a:r>
              <a:rPr dirty="0">
                <a:solidFill>
                  <a:schemeClr val="tx1">
                    <a:lumMod val="65000"/>
                    <a:lumOff val="35000"/>
                  </a:schemeClr>
                </a:solidFill>
              </a:rPr>
              <a:t>• The clock, bus and control signals coordinate the whole system.</a:t>
            </a:r>
          </a:p>
        </p:txBody>
      </p:sp>
      <p:sp>
        <p:nvSpPr>
          <p:cNvPr id="4" name="TextBox 3"/>
          <p:cNvSpPr txBox="1"/>
          <p:nvPr/>
        </p:nvSpPr>
        <p:spPr>
          <a:xfrm>
            <a:off x="822960" y="5212080"/>
            <a:ext cx="10424160" cy="502920"/>
          </a:xfrm>
          <a:prstGeom prst="rect">
            <a:avLst/>
          </a:prstGeom>
          <a:noFill/>
        </p:spPr>
        <p:txBody>
          <a:bodyPr wrap="square" lIns="27432" tIns="18288" rIns="27432" bIns="18288">
            <a:spAutoFit/>
          </a:bodyPr>
          <a:lstStyle/>
          <a:p>
            <a:pPr>
              <a:spcAft>
                <a:spcPts val="600"/>
              </a:spcAft>
              <a:defRPr sz="2600" b="1">
                <a:solidFill>
                  <a:srgbClr val="5ACDD2"/>
                </a:solidFill>
                <a:latin typeface="Arial"/>
              </a:defRPr>
            </a:pPr>
            <a:r>
              <a:t>THANK YOU</a:t>
            </a:r>
          </a:p>
        </p:txBody>
      </p:sp>
      <p:sp>
        <p:nvSpPr>
          <p:cNvPr id="5" name="TextBox 4"/>
          <p:cNvSpPr txBox="1"/>
          <p:nvPr/>
        </p:nvSpPr>
        <p:spPr>
          <a:xfrm>
            <a:off x="822960" y="5989320"/>
            <a:ext cx="10515600" cy="228600"/>
          </a:xfrm>
          <a:prstGeom prst="rect">
            <a:avLst/>
          </a:prstGeom>
          <a:noFill/>
        </p:spPr>
        <p:txBody>
          <a:bodyPr wrap="square" lIns="27432" tIns="18288" rIns="27432" bIns="18288">
            <a:spAutoFit/>
          </a:bodyPr>
          <a:lstStyle/>
          <a:p>
            <a:pPr>
              <a:spcAft>
                <a:spcPts val="600"/>
              </a:spcAft>
              <a:defRPr sz="1100" b="0">
                <a:solidFill>
                  <a:srgbClr val="D7DEE9"/>
                </a:solidFill>
                <a:latin typeface="Arial"/>
              </a:defRPr>
            </a:pPr>
            <a:r>
              <a:t>TEAM SYNTHORA  |  RISK V MACKATHON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TotalTime>
  <Words>1739</Words>
  <Application>Microsoft Office PowerPoint</Application>
  <PresentationFormat>Widescreen</PresentationFormat>
  <Paragraphs>171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HARIKRISHNAN R</dc:creator>
  <cp:keywords/>
  <dc:description>generated using python-pptx</dc:description>
  <cp:lastModifiedBy>harikrishnanpgr@gmail.com</cp:lastModifiedBy>
  <cp:revision>3</cp:revision>
  <dcterms:created xsi:type="dcterms:W3CDTF">2013-01-27T09:14:16Z</dcterms:created>
  <dcterms:modified xsi:type="dcterms:W3CDTF">2026-10-09T17:11:51Z</dcterms:modified>
  <cp:category/>
</cp:coreProperties>
</file>